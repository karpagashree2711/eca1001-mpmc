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8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A2A5ADE-44DC-5867-5E72-827EDEC9F250}">
          <p14:sldIdLst>
            <p14:sldId id="256"/>
            <p14:sldId id="257"/>
          </p14:sldIdLst>
        </p14:section>
        <p14:section name="Systems" id="{31A0CFE5-01A3-0FCA-685D-5C7F1756ABA2}">
          <p14:sldIdLst>
            <p14:sldId id="258"/>
            <p14:sldId id="259"/>
            <p14:sldId id="260"/>
          </p14:sldIdLst>
        </p14:section>
        <p14:section name="Modules and Conclusion" id="{09A0AE88-2022-A484-11A1-16C2DC080EA8}">
          <p14:sldIdLst>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1507" y="7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7860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title, team and guide. This is a 0th review, so the work presented is a proposed system and design plan.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EV charging needs power management and safety monitoring, then state the proposal and objective.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that all existing chargers have these limitations. Many modern chargers already include advanced load management and safety features; we describe basic implementations.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Dynamic load management is different from simple overcurrent protection: it continuously shares available capacity, while protection only trips at a limit. Power adjustment needs a controllable charging interface.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power source, sensors, ESP32, load management and safety logic, relay or contactor, then the charging load. The ESP32 also sends data to the display and IoT dashboard, and safety alerts activate the buzzer.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modules map to the architecture blocks. Hardware list is the plan for the low-voltage academic prototype.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proposal. Stress that results are not yet available; this is a 0th review of a proposed system. Thank the panel.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77D31-BF30-EF3D-3F5B-74A8F2E5C1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E9D1DD-B9CA-1966-08C0-485436434D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B58A44-44AA-A319-C899-062BC0F0645E}"/>
              </a:ext>
            </a:extLst>
          </p:cNvPr>
          <p:cNvSpPr>
            <a:spLocks noGrp="1"/>
          </p:cNvSpPr>
          <p:nvPr>
            <p:ph type="body" idx="1"/>
          </p:nvPr>
        </p:nvSpPr>
        <p:spPr/>
        <p:txBody>
          <a:bodyPr/>
          <a:lstStyle/>
          <a:p>
            <a:r>
              <a:rPr lang="en-US" dirty="0"/>
              <a:t>Summarize the proposal. Stress that results are not yet available; this is a 0th review of a proposed system. Thank the panel.</a:t>
            </a:r>
          </a:p>
        </p:txBody>
      </p:sp>
      <p:sp>
        <p:nvSpPr>
          <p:cNvPr id="4" name="Slide Number Placeholder 3">
            <a:extLst>
              <a:ext uri="{FF2B5EF4-FFF2-40B4-BE49-F238E27FC236}">
                <a16:creationId xmlns:a16="http://schemas.microsoft.com/office/drawing/2014/main" id="{213A9A46-5CA4-567B-72D6-6E74CA17619E}"/>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0106152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3E17B-B5DA-F878-5E28-C140E877A1BC}"/>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28C4667-3154-0C65-C53B-94A69F23E22F}"/>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2E5DF4D3-8006-FC0C-1D67-B1DD2001299C}"/>
              </a:ext>
            </a:extLst>
          </p:cNvPr>
          <p:cNvSpPr>
            <a:spLocks noGrp="1"/>
          </p:cNvSpPr>
          <p:nvPr>
            <p:ph type="dt" sz="half" idx="10"/>
          </p:nvPr>
        </p:nvSpPr>
        <p:spPr/>
        <p:txBody>
          <a:bodyPr/>
          <a:lstStyle/>
          <a:p>
            <a:fld id="{48A87A34-81AB-432B-8DAE-1953F412C126}" type="datetimeFigureOut">
              <a:rPr lang="en-US" smtClean="0"/>
              <a:t>10/26/2026</a:t>
            </a:fld>
            <a:endParaRPr lang="en-US" dirty="0"/>
          </a:p>
        </p:txBody>
      </p:sp>
      <p:sp>
        <p:nvSpPr>
          <p:cNvPr id="5" name="Footer Placeholder 4">
            <a:extLst>
              <a:ext uri="{FF2B5EF4-FFF2-40B4-BE49-F238E27FC236}">
                <a16:creationId xmlns:a16="http://schemas.microsoft.com/office/drawing/2014/main" id="{BB61B484-2207-F40D-B86F-950FBC7C7CF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8C362F9-044F-127E-9ACB-FE72F46DF656}"/>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70659134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C98BC-1646-CF96-8D12-0BEBCC506D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670E97-E5E8-D36E-063A-D6AF42C425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8C6F39-DAFC-13B7-A51D-5DB5965AF392}"/>
              </a:ext>
            </a:extLst>
          </p:cNvPr>
          <p:cNvSpPr>
            <a:spLocks noGrp="1"/>
          </p:cNvSpPr>
          <p:nvPr>
            <p:ph type="dt" sz="half" idx="10"/>
          </p:nvPr>
        </p:nvSpPr>
        <p:spPr/>
        <p:txBody>
          <a:bodyPr/>
          <a:lstStyle/>
          <a:p>
            <a:fld id="{48A87A34-81AB-432B-8DAE-1953F412C126}" type="datetimeFigureOut">
              <a:rPr lang="en-US" smtClean="0"/>
              <a:t>10/26/2026</a:t>
            </a:fld>
            <a:endParaRPr lang="en-US" dirty="0"/>
          </a:p>
        </p:txBody>
      </p:sp>
      <p:sp>
        <p:nvSpPr>
          <p:cNvPr id="5" name="Footer Placeholder 4">
            <a:extLst>
              <a:ext uri="{FF2B5EF4-FFF2-40B4-BE49-F238E27FC236}">
                <a16:creationId xmlns:a16="http://schemas.microsoft.com/office/drawing/2014/main" id="{A682B81E-43C1-7C7E-87DC-807CAE5B635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FFA4DD2-D07B-A696-DC17-D379AC2F2D7F}"/>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67887748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EEA49-0689-08FF-2F50-79FF80D2515F}"/>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C98E598-1F62-A6BB-3E1A-5F50247AFC71}"/>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6F7C26-67F8-FE3A-8410-17660B0002E6}"/>
              </a:ext>
            </a:extLst>
          </p:cNvPr>
          <p:cNvSpPr>
            <a:spLocks noGrp="1"/>
          </p:cNvSpPr>
          <p:nvPr>
            <p:ph type="dt" sz="half" idx="10"/>
          </p:nvPr>
        </p:nvSpPr>
        <p:spPr/>
        <p:txBody>
          <a:bodyPr/>
          <a:lstStyle/>
          <a:p>
            <a:fld id="{48A87A34-81AB-432B-8DAE-1953F412C126}" type="datetimeFigureOut">
              <a:rPr lang="en-US" smtClean="0"/>
              <a:t>10/26/2026</a:t>
            </a:fld>
            <a:endParaRPr lang="en-US" dirty="0"/>
          </a:p>
        </p:txBody>
      </p:sp>
      <p:sp>
        <p:nvSpPr>
          <p:cNvPr id="5" name="Footer Placeholder 4">
            <a:extLst>
              <a:ext uri="{FF2B5EF4-FFF2-40B4-BE49-F238E27FC236}">
                <a16:creationId xmlns:a16="http://schemas.microsoft.com/office/drawing/2014/main" id="{C763AD36-B747-4A72-D296-A15B953A670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D40CC7B-4EE6-3D1C-27BD-8BE6CA1B64C0}"/>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416815534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9806F-7BCB-E1A9-1E1A-311C311907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536A14-3837-AFC0-AC9F-B2E6A8BEB6C6}"/>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DFB666E-8CA1-9ECB-5062-5F0AE48F1565}"/>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876012-8B82-D71A-8217-645B85D52D53}"/>
              </a:ext>
            </a:extLst>
          </p:cNvPr>
          <p:cNvSpPr>
            <a:spLocks noGrp="1"/>
          </p:cNvSpPr>
          <p:nvPr>
            <p:ph type="dt" sz="half" idx="10"/>
          </p:nvPr>
        </p:nvSpPr>
        <p:spPr/>
        <p:txBody>
          <a:bodyPr/>
          <a:lstStyle/>
          <a:p>
            <a:fld id="{48A87A34-81AB-432B-8DAE-1953F412C126}" type="datetimeFigureOut">
              <a:rPr lang="en-US" smtClean="0"/>
              <a:t>10/26/2026</a:t>
            </a:fld>
            <a:endParaRPr lang="en-US" dirty="0"/>
          </a:p>
        </p:txBody>
      </p:sp>
      <p:sp>
        <p:nvSpPr>
          <p:cNvPr id="6" name="Footer Placeholder 5">
            <a:extLst>
              <a:ext uri="{FF2B5EF4-FFF2-40B4-BE49-F238E27FC236}">
                <a16:creationId xmlns:a16="http://schemas.microsoft.com/office/drawing/2014/main" id="{4DDADAA9-DF6D-7B28-0828-E46F2D9A70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AD0C4F0-C493-8D23-0A74-D7865986D074}"/>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02960436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E2BB0-E882-28EB-FDD6-2C182726A9EE}"/>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24AE90F1-6A3F-E3D3-2C3E-9CC4BADDC107}"/>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DF72533E-E269-F34E-A818-5044FD664E33}"/>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03B3402-3944-D0FF-2108-C4118565F5A6}"/>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4928D89-A6ED-9AD7-16BE-1184EF9E4E71}"/>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09AD76-2C4B-D21E-87B9-C1FCE0794F7D}"/>
              </a:ext>
            </a:extLst>
          </p:cNvPr>
          <p:cNvSpPr>
            <a:spLocks noGrp="1"/>
          </p:cNvSpPr>
          <p:nvPr>
            <p:ph type="dt" sz="half" idx="10"/>
          </p:nvPr>
        </p:nvSpPr>
        <p:spPr/>
        <p:txBody>
          <a:bodyPr/>
          <a:lstStyle/>
          <a:p>
            <a:fld id="{48A87A34-81AB-432B-8DAE-1953F412C126}" type="datetimeFigureOut">
              <a:rPr lang="en-US" smtClean="0"/>
              <a:t>10/26/2026</a:t>
            </a:fld>
            <a:endParaRPr lang="en-US" dirty="0"/>
          </a:p>
        </p:txBody>
      </p:sp>
      <p:sp>
        <p:nvSpPr>
          <p:cNvPr id="8" name="Footer Placeholder 7">
            <a:extLst>
              <a:ext uri="{FF2B5EF4-FFF2-40B4-BE49-F238E27FC236}">
                <a16:creationId xmlns:a16="http://schemas.microsoft.com/office/drawing/2014/main" id="{110AA07E-FFF3-E24C-4E5A-95852EB5D92D}"/>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454925B-9FA9-DC0C-F770-99680DA70285}"/>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124130134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7E144-7C2A-09A4-63BC-7CAC60622F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91A37D2-4CD5-A50D-53BD-ED6E4701C443}"/>
              </a:ext>
            </a:extLst>
          </p:cNvPr>
          <p:cNvSpPr>
            <a:spLocks noGrp="1"/>
          </p:cNvSpPr>
          <p:nvPr>
            <p:ph type="dt" sz="half" idx="10"/>
          </p:nvPr>
        </p:nvSpPr>
        <p:spPr/>
        <p:txBody>
          <a:bodyPr/>
          <a:lstStyle/>
          <a:p>
            <a:fld id="{48A87A34-81AB-432B-8DAE-1953F412C126}" type="datetimeFigureOut">
              <a:rPr lang="en-US" smtClean="0"/>
              <a:t>10/26/2026</a:t>
            </a:fld>
            <a:endParaRPr lang="en-US" dirty="0"/>
          </a:p>
        </p:txBody>
      </p:sp>
      <p:sp>
        <p:nvSpPr>
          <p:cNvPr id="4" name="Footer Placeholder 3">
            <a:extLst>
              <a:ext uri="{FF2B5EF4-FFF2-40B4-BE49-F238E27FC236}">
                <a16:creationId xmlns:a16="http://schemas.microsoft.com/office/drawing/2014/main" id="{DB7D017D-9DA2-FEEB-8D6A-5A15D4CB8E8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49D4DE7-F220-D4CC-D30E-CB98B9C6630C}"/>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184501127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4D1A30-2DD5-A4AC-540F-3083781AC1F9}"/>
              </a:ext>
            </a:extLst>
          </p:cNvPr>
          <p:cNvSpPr>
            <a:spLocks noGrp="1"/>
          </p:cNvSpPr>
          <p:nvPr>
            <p:ph type="dt" sz="half" idx="10"/>
          </p:nvPr>
        </p:nvSpPr>
        <p:spPr/>
        <p:txBody>
          <a:bodyPr/>
          <a:lstStyle/>
          <a:p>
            <a:fld id="{48A87A34-81AB-432B-8DAE-1953F412C126}" type="datetimeFigureOut">
              <a:rPr lang="en-US" smtClean="0"/>
              <a:t>10/26/2026</a:t>
            </a:fld>
            <a:endParaRPr lang="en-US" dirty="0"/>
          </a:p>
        </p:txBody>
      </p:sp>
      <p:sp>
        <p:nvSpPr>
          <p:cNvPr id="3" name="Footer Placeholder 2">
            <a:extLst>
              <a:ext uri="{FF2B5EF4-FFF2-40B4-BE49-F238E27FC236}">
                <a16:creationId xmlns:a16="http://schemas.microsoft.com/office/drawing/2014/main" id="{1EA46119-D70A-2009-C9A1-0722F3B03C3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C2B7AA8-498B-9CF9-95C4-14F28364280E}"/>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25032070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C8DAD-A464-EF94-E8D2-61A461D7A88C}"/>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2292A4D-0270-8445-DD69-C98B1CEABCE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DA2CBF-9F7A-BCB0-3282-2079264A5D87}"/>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570D5C6-1D36-2BFC-8C0D-A059C07D3B21}"/>
              </a:ext>
            </a:extLst>
          </p:cNvPr>
          <p:cNvSpPr>
            <a:spLocks noGrp="1"/>
          </p:cNvSpPr>
          <p:nvPr>
            <p:ph type="dt" sz="half" idx="10"/>
          </p:nvPr>
        </p:nvSpPr>
        <p:spPr/>
        <p:txBody>
          <a:bodyPr/>
          <a:lstStyle/>
          <a:p>
            <a:fld id="{48A87A34-81AB-432B-8DAE-1953F412C126}" type="datetimeFigureOut">
              <a:rPr lang="en-US" smtClean="0"/>
              <a:t>10/26/2026</a:t>
            </a:fld>
            <a:endParaRPr lang="en-US" dirty="0"/>
          </a:p>
        </p:txBody>
      </p:sp>
      <p:sp>
        <p:nvSpPr>
          <p:cNvPr id="6" name="Footer Placeholder 5">
            <a:extLst>
              <a:ext uri="{FF2B5EF4-FFF2-40B4-BE49-F238E27FC236}">
                <a16:creationId xmlns:a16="http://schemas.microsoft.com/office/drawing/2014/main" id="{32744F21-1FD4-B7C4-37D5-23169200952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D558909-F9B6-31B1-0E04-E4400E61AA9A}"/>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27023888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7258A-0426-B039-7E8F-EC9A720D9FF9}"/>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D394128C-11AB-4499-D90C-DF3218F03EFE}"/>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C749A124-84A8-4C80-454F-75D0EB9BEA71}"/>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1DD4372-A4D9-EFA8-CE11-66049D6E6CAC}"/>
              </a:ext>
            </a:extLst>
          </p:cNvPr>
          <p:cNvSpPr>
            <a:spLocks noGrp="1"/>
          </p:cNvSpPr>
          <p:nvPr>
            <p:ph type="dt" sz="half" idx="10"/>
          </p:nvPr>
        </p:nvSpPr>
        <p:spPr/>
        <p:txBody>
          <a:bodyPr/>
          <a:lstStyle/>
          <a:p>
            <a:fld id="{48A87A34-81AB-432B-8DAE-1953F412C126}" type="datetimeFigureOut">
              <a:rPr lang="en-US" smtClean="0"/>
              <a:pPr/>
              <a:t>10/26/2026</a:t>
            </a:fld>
            <a:endParaRPr lang="en-US" dirty="0"/>
          </a:p>
        </p:txBody>
      </p:sp>
      <p:sp>
        <p:nvSpPr>
          <p:cNvPr id="6" name="Footer Placeholder 5">
            <a:extLst>
              <a:ext uri="{FF2B5EF4-FFF2-40B4-BE49-F238E27FC236}">
                <a16:creationId xmlns:a16="http://schemas.microsoft.com/office/drawing/2014/main" id="{4B6D49DE-62D5-F5AB-569C-10A088F2BB0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F7673E7-3171-1188-55B2-C02773CD56D1}"/>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96502202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EDD1F-328A-173E-CB6B-B21A1A1747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FF03EA4-F584-D51F-2AE4-46528754F7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AD4B0C-7B3E-A245-6A51-7401132BECD7}"/>
              </a:ext>
            </a:extLst>
          </p:cNvPr>
          <p:cNvSpPr>
            <a:spLocks noGrp="1"/>
          </p:cNvSpPr>
          <p:nvPr>
            <p:ph type="dt" sz="half" idx="10"/>
          </p:nvPr>
        </p:nvSpPr>
        <p:spPr/>
        <p:txBody>
          <a:bodyPr/>
          <a:lstStyle/>
          <a:p>
            <a:fld id="{48A87A34-81AB-432B-8DAE-1953F412C126}" type="datetimeFigureOut">
              <a:rPr lang="en-US" smtClean="0"/>
              <a:t>10/26/2026</a:t>
            </a:fld>
            <a:endParaRPr lang="en-US" dirty="0"/>
          </a:p>
        </p:txBody>
      </p:sp>
      <p:sp>
        <p:nvSpPr>
          <p:cNvPr id="5" name="Footer Placeholder 4">
            <a:extLst>
              <a:ext uri="{FF2B5EF4-FFF2-40B4-BE49-F238E27FC236}">
                <a16:creationId xmlns:a16="http://schemas.microsoft.com/office/drawing/2014/main" id="{A02B131B-7A01-F943-89AA-F53281EF357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4A495BE-1296-3642-D7A8-17FED2C65606}"/>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94435805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431BDC-413A-5F94-42AA-0F017C839144}"/>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2F3BF0-CCF2-2B38-D806-D76E432740C0}"/>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C86BFE-8332-3DB1-7AA5-7CA43D4EF2D6}"/>
              </a:ext>
            </a:extLst>
          </p:cNvPr>
          <p:cNvSpPr>
            <a:spLocks noGrp="1"/>
          </p:cNvSpPr>
          <p:nvPr>
            <p:ph type="dt" sz="half" idx="10"/>
          </p:nvPr>
        </p:nvSpPr>
        <p:spPr/>
        <p:txBody>
          <a:bodyPr/>
          <a:lstStyle/>
          <a:p>
            <a:fld id="{48A87A34-81AB-432B-8DAE-1953F412C126}" type="datetimeFigureOut">
              <a:rPr lang="en-US" smtClean="0"/>
              <a:t>10/26/2026</a:t>
            </a:fld>
            <a:endParaRPr lang="en-US" dirty="0"/>
          </a:p>
        </p:txBody>
      </p:sp>
      <p:sp>
        <p:nvSpPr>
          <p:cNvPr id="5" name="Footer Placeholder 4">
            <a:extLst>
              <a:ext uri="{FF2B5EF4-FFF2-40B4-BE49-F238E27FC236}">
                <a16:creationId xmlns:a16="http://schemas.microsoft.com/office/drawing/2014/main" id="{C010F769-9F98-C272-C284-22EC299A11C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0EEBE18-BB8D-40FD-1D35-18A0207418C1}"/>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33218754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005840"/>
            <a:ext cx="5120640" cy="1920240"/>
          </a:xfrm>
          <a:prstGeom prst="rect">
            <a:avLst/>
          </a:prstGeom>
          <a:noFill/>
          <a:ln/>
        </p:spPr>
        <p:txBody>
          <a:bodyPr wrap="square" rtlCol="0"/>
          <a:lstStyle>
            <a:lvl1pPr marL="0" indent="0" algn="l">
              <a:buNone/>
              <a:defRPr lang="en-US" sz="2800" b="1" dirty="0">
                <a:solidFill>
                  <a:schemeClr val="bg1"/>
                </a:solidFill>
              </a:defRPr>
            </a:lvl1pPr>
          </a:lstStyle>
          <a:p>
            <a:pPr marL="0" indent="0" algn="l">
              <a:buNone/>
            </a:pPr>
            <a:endParaRPr lang="en-US" sz="2800" dirty="0"/>
          </a:p>
        </p:txBody>
      </p:sp>
    </p:spTree>
    <p:extLst>
      <p:ext uri="{BB962C8B-B14F-4D97-AF65-F5344CB8AC3E}">
        <p14:creationId xmlns:p14="http://schemas.microsoft.com/office/powerpoint/2010/main" val="8474547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ONTENT_LIGH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138160" y="4864608"/>
            <a:ext cx="548640" cy="18288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25757209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ONTENT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138160" y="4864608"/>
            <a:ext cx="548640" cy="18288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770662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243304-11F8-6E4C-C5B1-10EC8B2318B0}"/>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961FA88-4905-8DF7-4EB3-C609C95FA5C8}"/>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F3C2B1-730D-D481-F6C9-DFF1D419068F}"/>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48A87A34-81AB-432B-8DAE-1953F412C126}" type="datetimeFigureOut">
              <a:rPr lang="en-US" smtClean="0"/>
              <a:pPr/>
              <a:t>10/26/2026</a:t>
            </a:fld>
            <a:endParaRPr lang="en-US" dirty="0"/>
          </a:p>
        </p:txBody>
      </p:sp>
      <p:sp>
        <p:nvSpPr>
          <p:cNvPr id="5" name="Footer Placeholder 4">
            <a:extLst>
              <a:ext uri="{FF2B5EF4-FFF2-40B4-BE49-F238E27FC236}">
                <a16:creationId xmlns:a16="http://schemas.microsoft.com/office/drawing/2014/main" id="{A5ACA901-0D45-96B8-AA8D-E17090D4B782}"/>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47778D78-4BD5-1E42-4188-03F9FBC5D0DC}"/>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295289729"/>
      </p:ext>
    </p:extLst>
  </p:cSld>
  <p:clrMap bg1="lt1" tx1="dk1" bg2="lt2" tx2="dk2" accent1="accent1" accent2="accent2" accent3="accent3" accent4="accent4" accent5="accent5" accent6="accent6" hlink="hlink" folHlink="folHlink"/>
  <p:sldLayoutIdLst>
    <p:sldLayoutId id="2147484090" r:id="rId1"/>
    <p:sldLayoutId id="2147484091" r:id="rId2"/>
    <p:sldLayoutId id="2147484092" r:id="rId3"/>
    <p:sldLayoutId id="2147484093" r:id="rId4"/>
    <p:sldLayoutId id="2147484094" r:id="rId5"/>
    <p:sldLayoutId id="2147484095" r:id="rId6"/>
    <p:sldLayoutId id="2147484096" r:id="rId7"/>
    <p:sldLayoutId id="2147484097" r:id="rId8"/>
    <p:sldLayoutId id="2147484098" r:id="rId9"/>
    <p:sldLayoutId id="2147484099" r:id="rId10"/>
    <p:sldLayoutId id="2147484100" r:id="rId11"/>
    <p:sldLayoutId id="2147484101" r:id="rId12"/>
    <p:sldLayoutId id="2147484102" r:id="rId13"/>
    <p:sldLayoutId id="2147484103" r:id="rId14"/>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3" name="Text 0"/>
          <p:cNvSpPr>
            <a:spLocks noGrp="1"/>
          </p:cNvSpPr>
          <p:nvPr>
            <p:ph type="title" idx="100"/>
          </p:nvPr>
        </p:nvSpPr>
        <p:spPr>
          <a:xfrm>
            <a:off x="365760" y="1467152"/>
            <a:ext cx="5120640" cy="1165860"/>
          </a:xfrm>
          <a:prstGeom prst="rect">
            <a:avLst/>
          </a:prstGeom>
          <a:noFill/>
          <a:ln/>
        </p:spPr>
        <p:txBody>
          <a:bodyPr wrap="square" lIns="0" tIns="0" rIns="0" bIns="0" rtlCol="0" anchor="t"/>
          <a:lstStyle/>
          <a:p>
            <a:pPr marL="0" indent="0" algn="l">
              <a:buNone/>
            </a:pPr>
            <a:r>
              <a:rPr lang="en-US" sz="2600" b="1" dirty="0">
                <a:solidFill>
                  <a:schemeClr val="tx1"/>
                </a:solidFill>
                <a:latin typeface="Times New Roman" panose="02020603050405020304" pitchFamily="18" charset="0"/>
                <a:cs typeface="Times New Roman" panose="02020603050405020304" pitchFamily="18" charset="0"/>
              </a:rPr>
              <a:t>Smart EV Charging Station with Dynamic Load Management and Safety Monitoring</a:t>
            </a:r>
            <a:endParaRPr lang="en-US" sz="2600" dirty="0">
              <a:solidFill>
                <a:schemeClr val="tx1"/>
              </a:solidFill>
              <a:latin typeface="Times New Roman" panose="02020603050405020304" pitchFamily="18" charset="0"/>
              <a:cs typeface="Times New Roman" panose="02020603050405020304" pitchFamily="18" charset="0"/>
            </a:endParaRPr>
          </a:p>
        </p:txBody>
      </p:sp>
      <p:sp>
        <p:nvSpPr>
          <p:cNvPr id="4" name="Team details"/>
          <p:cNvSpPr txBox="1"/>
          <p:nvPr/>
        </p:nvSpPr>
        <p:spPr>
          <a:xfrm>
            <a:off x="365760" y="3569665"/>
            <a:ext cx="5120640" cy="1188720"/>
          </a:xfrm>
          <a:prstGeom prst="rect">
            <a:avLst/>
          </a:prstGeom>
          <a:noFill/>
          <a:ln/>
        </p:spPr>
        <p:txBody>
          <a:bodyPr wrap="square" lIns="0" tIns="0" rIns="0" bIns="0" rtlCol="0" anchor="t"/>
          <a:lstStyle/>
          <a:p>
            <a:pPr marL="0" indent="0">
              <a:spcAft>
                <a:spcPts val="600"/>
              </a:spcAft>
              <a:buNone/>
            </a:pPr>
            <a:r>
              <a:rPr lang="en-US" sz="1400" b="1" dirty="0">
                <a:latin typeface="Times New Roman" panose="02020603050405020304" pitchFamily="18" charset="0"/>
                <a:cs typeface="Times New Roman" panose="02020603050405020304" pitchFamily="18" charset="0"/>
              </a:rPr>
              <a:t>Presented by: </a:t>
            </a:r>
            <a:br>
              <a:rPr lang="en-US" sz="1400" b="1"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Kaviya V(192421022)</a:t>
            </a:r>
          </a:p>
          <a:p>
            <a:pPr marL="0" indent="0">
              <a:spcAft>
                <a:spcPts val="600"/>
              </a:spcAft>
              <a:buNone/>
            </a:pPr>
            <a:r>
              <a:rPr lang="en-US" sz="1200" b="1" dirty="0">
                <a:latin typeface="Times New Roman" panose="02020603050405020304" pitchFamily="18" charset="0"/>
                <a:cs typeface="Times New Roman" panose="02020603050405020304" pitchFamily="18" charset="0"/>
              </a:rPr>
              <a:t>NithiyaSree M(192421101)</a:t>
            </a:r>
          </a:p>
          <a:p>
            <a:pPr marL="0" indent="0">
              <a:spcAft>
                <a:spcPts val="600"/>
              </a:spcAft>
              <a:buNone/>
            </a:pPr>
            <a:r>
              <a:rPr lang="en-US" sz="1200" b="1" dirty="0">
                <a:latin typeface="Times New Roman" panose="02020603050405020304" pitchFamily="18" charset="0"/>
                <a:cs typeface="Times New Roman" panose="02020603050405020304" pitchFamily="18" charset="0"/>
              </a:rPr>
              <a:t>Karpaga shree P(192424042)</a:t>
            </a:r>
          </a:p>
          <a:p>
            <a:pPr marL="0" indent="0">
              <a:spcAft>
                <a:spcPts val="600"/>
              </a:spcAft>
              <a:buNone/>
            </a:pPr>
            <a:r>
              <a:rPr lang="en-US" sz="1200" b="1" dirty="0">
                <a:latin typeface="Times New Roman" panose="02020603050405020304" pitchFamily="18" charset="0"/>
                <a:cs typeface="Times New Roman" panose="02020603050405020304" pitchFamily="18" charset="0"/>
              </a:rPr>
              <a:t>Harshika K(192473020)                                 </a:t>
            </a:r>
            <a:endParaRPr lang="en-US" sz="1200" dirty="0">
              <a:latin typeface="Times New Roman" panose="02020603050405020304" pitchFamily="18" charset="0"/>
              <a:cs typeface="Times New Roman" panose="02020603050405020304" pitchFamily="18" charset="0"/>
            </a:endParaRPr>
          </a:p>
          <a:p>
            <a:pPr marL="0" indent="0">
              <a:spcAft>
                <a:spcPts val="600"/>
              </a:spcAft>
              <a:buNone/>
            </a:pPr>
            <a:endParaRPr lang="en-US" sz="1400" dirty="0">
              <a:latin typeface="Times New Roman" panose="02020603050405020304" pitchFamily="18" charset="0"/>
              <a:cs typeface="Times New Roman" panose="02020603050405020304" pitchFamily="18" charset="0"/>
            </a:endParaRPr>
          </a:p>
        </p:txBody>
      </p:sp>
      <p:sp>
        <p:nvSpPr>
          <p:cNvPr id="5" name="Orbit ring"/>
          <p:cNvSpPr/>
          <p:nvPr/>
        </p:nvSpPr>
        <p:spPr>
          <a:xfrm>
            <a:off x="5760720" y="1694542"/>
            <a:ext cx="2834640" cy="2834640"/>
          </a:xfrm>
          <a:prstGeom prst="ellipse">
            <a:avLst/>
          </a:prstGeom>
          <a:noFill/>
          <a:ln w="15875">
            <a:solidFill>
              <a:schemeClr val="accent5"/>
            </a:solidFill>
            <a:prstDash val="dash"/>
          </a:ln>
        </p:spPr>
      </p:sp>
      <p:sp>
        <p:nvSpPr>
          <p:cNvPr id="6" name="Charging station"/>
          <p:cNvSpPr/>
          <p:nvPr/>
        </p:nvSpPr>
        <p:spPr>
          <a:xfrm>
            <a:off x="6217920" y="2151742"/>
            <a:ext cx="1920240" cy="1920240"/>
          </a:xfrm>
          <a:prstGeom prst="ellipse">
            <a:avLst/>
          </a:prstGeom>
          <a:solidFill>
            <a:schemeClr val="accent1"/>
          </a:solidFill>
          <a:ln w="38100">
            <a:solidFill>
              <a:schemeClr val="accent5"/>
            </a:solidFill>
            <a:prstDash val="solid"/>
          </a:ln>
        </p:spPr>
      </p:sp>
      <p:pic>
        <p:nvPicPr>
          <p:cNvPr id="7" name="Image 0" descr="Charging station icon"/>
          <p:cNvPicPr>
            <a:picLocks noChangeAspect="1"/>
          </p:cNvPicPr>
          <p:nvPr/>
        </p:nvPicPr>
        <p:blipFill>
          <a:blip r:embed="rId3"/>
          <a:stretch>
            <a:fillRect/>
          </a:stretch>
        </p:blipFill>
        <p:spPr>
          <a:xfrm>
            <a:off x="6697980" y="2631802"/>
            <a:ext cx="960120" cy="960120"/>
          </a:xfrm>
          <a:prstGeom prst="rect">
            <a:avLst/>
          </a:prstGeom>
        </p:spPr>
      </p:pic>
      <p:sp>
        <p:nvSpPr>
          <p:cNvPr id="8" name="Wi-Fi node"/>
          <p:cNvSpPr/>
          <p:nvPr/>
        </p:nvSpPr>
        <p:spPr>
          <a:xfrm>
            <a:off x="6903720" y="1420222"/>
            <a:ext cx="548640" cy="548640"/>
          </a:xfrm>
          <a:prstGeom prst="ellipse">
            <a:avLst/>
          </a:prstGeom>
          <a:solidFill>
            <a:schemeClr val="accent2"/>
          </a:solidFill>
          <a:ln/>
        </p:spPr>
      </p:sp>
      <p:pic>
        <p:nvPicPr>
          <p:cNvPr id="9" name="Image 1" descr="Wi-Fi node icon"/>
          <p:cNvPicPr>
            <a:picLocks noChangeAspect="1"/>
          </p:cNvPicPr>
          <p:nvPr/>
        </p:nvPicPr>
        <p:blipFill>
          <a:blip r:embed="rId4"/>
          <a:stretch>
            <a:fillRect/>
          </a:stretch>
        </p:blipFill>
        <p:spPr>
          <a:xfrm>
            <a:off x="7040880" y="1557382"/>
            <a:ext cx="274320" cy="274320"/>
          </a:xfrm>
          <a:prstGeom prst="rect">
            <a:avLst/>
          </a:prstGeom>
        </p:spPr>
      </p:pic>
      <p:sp>
        <p:nvSpPr>
          <p:cNvPr id="10" name="Microcontroller node"/>
          <p:cNvSpPr/>
          <p:nvPr/>
        </p:nvSpPr>
        <p:spPr>
          <a:xfrm>
            <a:off x="8321040" y="2837542"/>
            <a:ext cx="548640" cy="548640"/>
          </a:xfrm>
          <a:prstGeom prst="ellipse">
            <a:avLst/>
          </a:prstGeom>
          <a:solidFill>
            <a:schemeClr val="accent4"/>
          </a:solidFill>
          <a:ln/>
        </p:spPr>
      </p:sp>
      <p:pic>
        <p:nvPicPr>
          <p:cNvPr id="11" name="Image 2" descr="Microcontroller node icon"/>
          <p:cNvPicPr>
            <a:picLocks noChangeAspect="1"/>
          </p:cNvPicPr>
          <p:nvPr/>
        </p:nvPicPr>
        <p:blipFill>
          <a:blip r:embed="rId5"/>
          <a:stretch>
            <a:fillRect/>
          </a:stretch>
        </p:blipFill>
        <p:spPr>
          <a:xfrm>
            <a:off x="8458200" y="2974702"/>
            <a:ext cx="274320" cy="274320"/>
          </a:xfrm>
          <a:prstGeom prst="rect">
            <a:avLst/>
          </a:prstGeom>
        </p:spPr>
      </p:pic>
      <p:sp>
        <p:nvSpPr>
          <p:cNvPr id="12" name="Temperature node"/>
          <p:cNvSpPr/>
          <p:nvPr/>
        </p:nvSpPr>
        <p:spPr>
          <a:xfrm>
            <a:off x="6903720" y="4254862"/>
            <a:ext cx="548640" cy="548640"/>
          </a:xfrm>
          <a:prstGeom prst="ellipse">
            <a:avLst/>
          </a:prstGeom>
          <a:solidFill>
            <a:schemeClr val="accent3"/>
          </a:solidFill>
          <a:ln/>
        </p:spPr>
      </p:sp>
      <p:pic>
        <p:nvPicPr>
          <p:cNvPr id="13" name="Image 3" descr="Temperature node icon"/>
          <p:cNvPicPr>
            <a:picLocks noChangeAspect="1"/>
          </p:cNvPicPr>
          <p:nvPr/>
        </p:nvPicPr>
        <p:blipFill>
          <a:blip r:embed="rId6"/>
          <a:stretch>
            <a:fillRect/>
          </a:stretch>
        </p:blipFill>
        <p:spPr>
          <a:xfrm>
            <a:off x="7040880" y="4392022"/>
            <a:ext cx="274320" cy="274320"/>
          </a:xfrm>
          <a:prstGeom prst="rect">
            <a:avLst/>
          </a:prstGeom>
        </p:spPr>
      </p:pic>
      <p:sp>
        <p:nvSpPr>
          <p:cNvPr id="14" name="Power node"/>
          <p:cNvSpPr/>
          <p:nvPr/>
        </p:nvSpPr>
        <p:spPr>
          <a:xfrm>
            <a:off x="5486400" y="2837542"/>
            <a:ext cx="548640" cy="548640"/>
          </a:xfrm>
          <a:prstGeom prst="ellipse">
            <a:avLst/>
          </a:prstGeom>
          <a:solidFill>
            <a:schemeClr val="tx2"/>
          </a:solidFill>
          <a:ln w="19050">
            <a:solidFill>
              <a:schemeClr val="accent5"/>
            </a:solidFill>
            <a:prstDash val="solid"/>
          </a:ln>
        </p:spPr>
      </p:sp>
      <p:pic>
        <p:nvPicPr>
          <p:cNvPr id="15" name="Image 4" descr="Power node icon"/>
          <p:cNvPicPr>
            <a:picLocks noChangeAspect="1"/>
          </p:cNvPicPr>
          <p:nvPr/>
        </p:nvPicPr>
        <p:blipFill>
          <a:blip r:embed="rId7"/>
          <a:stretch>
            <a:fillRect/>
          </a:stretch>
        </p:blipFill>
        <p:spPr>
          <a:xfrm>
            <a:off x="5623560" y="2974702"/>
            <a:ext cx="274320" cy="274320"/>
          </a:xfrm>
          <a:prstGeom prst="rect">
            <a:avLst/>
          </a:prstGeom>
        </p:spPr>
      </p:pic>
      <p:sp>
        <p:nvSpPr>
          <p:cNvPr id="17" name="TextBox 16">
            <a:extLst>
              <a:ext uri="{FF2B5EF4-FFF2-40B4-BE49-F238E27FC236}">
                <a16:creationId xmlns:a16="http://schemas.microsoft.com/office/drawing/2014/main" id="{259D7314-8B65-C052-9624-7694F7390544}"/>
              </a:ext>
            </a:extLst>
          </p:cNvPr>
          <p:cNvSpPr txBox="1"/>
          <p:nvPr/>
        </p:nvSpPr>
        <p:spPr>
          <a:xfrm>
            <a:off x="340629" y="2837542"/>
            <a:ext cx="1330422" cy="523220"/>
          </a:xfrm>
          <a:prstGeom prst="rect">
            <a:avLst/>
          </a:prstGeom>
          <a:noFill/>
        </p:spPr>
        <p:txBody>
          <a:bodyPr wrap="square">
            <a:spAutoFit/>
          </a:bodyPr>
          <a:lstStyle/>
          <a:p>
            <a:pPr marL="0" indent="0">
              <a:spcAft>
                <a:spcPts val="600"/>
              </a:spcAft>
              <a:buNone/>
            </a:pPr>
            <a:r>
              <a:rPr lang="en-US" sz="1400" b="1" dirty="0">
                <a:latin typeface="Times New Roman" panose="02020603050405020304" pitchFamily="18" charset="0"/>
                <a:cs typeface="Times New Roman" panose="02020603050405020304" pitchFamily="18" charset="0"/>
              </a:rPr>
              <a:t>Project Guide: Dr M Vinoth</a:t>
            </a:r>
            <a:endParaRPr lang="en-US" sz="1400" dirty="0">
              <a:latin typeface="Times New Roman" panose="02020603050405020304" pitchFamily="18" charset="0"/>
              <a:cs typeface="Times New Roman" panose="02020603050405020304" pitchFamily="18" charset="0"/>
            </a:endParaRPr>
          </a:p>
        </p:txBody>
      </p:sp>
      <p:pic>
        <p:nvPicPr>
          <p:cNvPr id="2" name="object 4">
            <a:extLst>
              <a:ext uri="{FF2B5EF4-FFF2-40B4-BE49-F238E27FC236}">
                <a16:creationId xmlns:a16="http://schemas.microsoft.com/office/drawing/2014/main" id="{90B0852F-8186-50EF-F8D3-EBE3406B09D3}"/>
              </a:ext>
            </a:extLst>
          </p:cNvPr>
          <p:cNvPicPr/>
          <p:nvPr/>
        </p:nvPicPr>
        <p:blipFill>
          <a:blip r:embed="rId8" cstate="print"/>
          <a:stretch>
            <a:fillRect/>
          </a:stretch>
        </p:blipFill>
        <p:spPr>
          <a:xfrm>
            <a:off x="539931" y="242967"/>
            <a:ext cx="8055429" cy="8062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000" b="1" dirty="0">
                <a:solidFill>
                  <a:schemeClr val="tx1"/>
                </a:solidFill>
                <a:latin typeface="Times New Roman" panose="02020603050405020304" pitchFamily="18" charset="0"/>
                <a:cs typeface="Times New Roman" panose="02020603050405020304" pitchFamily="18" charset="0"/>
              </a:rPr>
              <a:t>Introduction</a:t>
            </a:r>
            <a:endParaRPr lang="en-US" sz="3000"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8138160" y="4864608"/>
            <a:ext cx="548640" cy="18288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
        <p:nvSpPr>
          <p:cNvPr id="3" name="Introduction points"/>
          <p:cNvSpPr txBox="1"/>
          <p:nvPr/>
        </p:nvSpPr>
        <p:spPr>
          <a:xfrm>
            <a:off x="457200" y="1097280"/>
            <a:ext cx="4937760" cy="347472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tx1"/>
                </a:solidFill>
                <a:latin typeface="Times New Roman" panose="02020603050405020304" pitchFamily="18" charset="0"/>
                <a:cs typeface="Times New Roman" panose="02020603050405020304" pitchFamily="18" charset="0"/>
              </a:rPr>
              <a:t>Electric vehicles are becoming increasingly popular</a:t>
            </a:r>
            <a:endParaRPr lang="en-US" sz="16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600" dirty="0">
                <a:solidFill>
                  <a:schemeClr val="tx1"/>
                </a:solidFill>
                <a:latin typeface="Times New Roman" panose="02020603050405020304" pitchFamily="18" charset="0"/>
                <a:cs typeface="Times New Roman" panose="02020603050405020304" pitchFamily="18" charset="0"/>
              </a:rPr>
              <a:t>EV charging needs efficient power management and safety monitoring</a:t>
            </a:r>
            <a:endParaRPr lang="en-US" sz="16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600" dirty="0">
                <a:solidFill>
                  <a:schemeClr val="tx1"/>
                </a:solidFill>
                <a:latin typeface="Times New Roman" panose="02020603050405020304" pitchFamily="18" charset="0"/>
                <a:cs typeface="Times New Roman" panose="02020603050405020304" pitchFamily="18" charset="0"/>
              </a:rPr>
              <a:t>Simultaneous charging can increase electrical demand</a:t>
            </a:r>
            <a:endParaRPr lang="en-US" sz="16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600" dirty="0">
                <a:solidFill>
                  <a:schemeClr val="tx1"/>
                </a:solidFill>
                <a:latin typeface="Times New Roman" panose="02020603050405020304" pitchFamily="18" charset="0"/>
                <a:cs typeface="Times New Roman" panose="02020603050405020304" pitchFamily="18" charset="0"/>
              </a:rPr>
              <a:t>Excessive current and temperature may create safety risks</a:t>
            </a:r>
            <a:endParaRPr lang="en-US" sz="16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600" b="1" dirty="0">
                <a:solidFill>
                  <a:schemeClr val="tx1"/>
                </a:solidFill>
                <a:latin typeface="Times New Roman" panose="02020603050405020304" pitchFamily="18" charset="0"/>
                <a:cs typeface="Times New Roman" panose="02020603050405020304" pitchFamily="18" charset="0"/>
              </a:rPr>
              <a:t>Proposal: </a:t>
            </a:r>
            <a:r>
              <a:rPr lang="en-US" sz="1600" dirty="0">
                <a:solidFill>
                  <a:schemeClr val="tx1"/>
                </a:solidFill>
                <a:latin typeface="Times New Roman" panose="02020603050405020304" pitchFamily="18" charset="0"/>
                <a:cs typeface="Times New Roman" panose="02020603050405020304" pitchFamily="18" charset="0"/>
              </a:rPr>
              <a:t>intelligent charging control using an ESP32, sensors and dynamic load management</a:t>
            </a:r>
            <a:endParaRPr lang="en-US" sz="16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600" b="1" dirty="0">
                <a:solidFill>
                  <a:schemeClr val="tx1"/>
                </a:solidFill>
                <a:latin typeface="Times New Roman" panose="02020603050405020304" pitchFamily="18" charset="0"/>
                <a:cs typeface="Times New Roman" panose="02020603050405020304" pitchFamily="18" charset="0"/>
              </a:rPr>
              <a:t>Objective: </a:t>
            </a:r>
            <a:r>
              <a:rPr lang="en-US" sz="1600" dirty="0">
                <a:solidFill>
                  <a:schemeClr val="tx1"/>
                </a:solidFill>
                <a:latin typeface="Times New Roman" panose="02020603050405020304" pitchFamily="18" charset="0"/>
                <a:cs typeface="Times New Roman" panose="02020603050405020304" pitchFamily="18" charset="0"/>
              </a:rPr>
              <a:t>improve power utilization, monitoring and safety</a:t>
            </a:r>
            <a:endParaRPr lang="en-US" sz="1600" dirty="0">
              <a:latin typeface="Times New Roman" panose="02020603050405020304" pitchFamily="18" charset="0"/>
              <a:cs typeface="Times New Roman" panose="02020603050405020304" pitchFamily="18" charset="0"/>
            </a:endParaRPr>
          </a:p>
        </p:txBody>
      </p:sp>
      <p:sp>
        <p:nvSpPr>
          <p:cNvPr id="4" name="Approach panel"/>
          <p:cNvSpPr/>
          <p:nvPr/>
        </p:nvSpPr>
        <p:spPr>
          <a:xfrm>
            <a:off x="5669280" y="1097280"/>
            <a:ext cx="3017520" cy="3566160"/>
          </a:xfrm>
          <a:prstGeom prst="roundRect">
            <a:avLst>
              <a:gd name="adj" fmla="val 2424"/>
            </a:avLst>
          </a:prstGeom>
          <a:solidFill>
            <a:schemeClr val="tx1"/>
          </a:solidFill>
          <a:ln/>
        </p:spPr>
      </p:sp>
      <p:sp>
        <p:nvSpPr>
          <p:cNvPr id="5" name="Panel title"/>
          <p:cNvSpPr txBox="1"/>
          <p:nvPr/>
        </p:nvSpPr>
        <p:spPr>
          <a:xfrm>
            <a:off x="5897880" y="1207008"/>
            <a:ext cx="2560320" cy="320040"/>
          </a:xfrm>
          <a:prstGeom prst="rect">
            <a:avLst/>
          </a:prstGeom>
          <a:noFill/>
          <a:ln/>
        </p:spPr>
        <p:txBody>
          <a:bodyPr wrap="square" lIns="0" tIns="0" rIns="0" bIns="0" rtlCol="0" anchor="ctr"/>
          <a:lstStyle/>
          <a:p>
            <a:pPr marL="0" indent="0">
              <a:buNone/>
            </a:pPr>
            <a:r>
              <a:rPr lang="en-US" sz="1600" b="1" dirty="0">
                <a:solidFill>
                  <a:schemeClr val="accent5"/>
                </a:solidFill>
                <a:latin typeface="Times New Roman" panose="02020603050405020304" pitchFamily="18" charset="0"/>
                <a:cs typeface="Times New Roman" panose="02020603050405020304" pitchFamily="18" charset="0"/>
              </a:rPr>
              <a:t>Our approach</a:t>
            </a:r>
            <a:endParaRPr lang="en-US" sz="1600" dirty="0">
              <a:latin typeface="Times New Roman" panose="02020603050405020304" pitchFamily="18" charset="0"/>
              <a:cs typeface="Times New Roman" panose="02020603050405020304" pitchFamily="18" charset="0"/>
            </a:endParaRPr>
          </a:p>
        </p:txBody>
      </p:sp>
      <p:sp>
        <p:nvSpPr>
          <p:cNvPr id="6" name="Monitor icon"/>
          <p:cNvSpPr/>
          <p:nvPr/>
        </p:nvSpPr>
        <p:spPr>
          <a:xfrm>
            <a:off x="5897880" y="1691640"/>
            <a:ext cx="548640" cy="548640"/>
          </a:xfrm>
          <a:prstGeom prst="ellipse">
            <a:avLst/>
          </a:prstGeom>
          <a:solidFill>
            <a:schemeClr val="accent2"/>
          </a:solidFill>
          <a:ln/>
        </p:spPr>
      </p:sp>
      <p:pic>
        <p:nvPicPr>
          <p:cNvPr id="7" name="Image 0" descr="Monitor icon icon"/>
          <p:cNvPicPr>
            <a:picLocks noChangeAspect="1"/>
          </p:cNvPicPr>
          <p:nvPr/>
        </p:nvPicPr>
        <p:blipFill>
          <a:blip r:embed="rId3"/>
          <a:stretch>
            <a:fillRect/>
          </a:stretch>
        </p:blipFill>
        <p:spPr>
          <a:xfrm>
            <a:off x="6035040" y="1828800"/>
            <a:ext cx="274320" cy="274320"/>
          </a:xfrm>
          <a:prstGeom prst="rect">
            <a:avLst/>
          </a:prstGeom>
        </p:spPr>
      </p:pic>
      <p:sp>
        <p:nvSpPr>
          <p:cNvPr id="8" name="Monitor text"/>
          <p:cNvSpPr txBox="1"/>
          <p:nvPr/>
        </p:nvSpPr>
        <p:spPr>
          <a:xfrm>
            <a:off x="6583680" y="1645920"/>
            <a:ext cx="1965960" cy="640080"/>
          </a:xfrm>
          <a:prstGeom prst="rect">
            <a:avLst/>
          </a:prstGeom>
          <a:noFill/>
          <a:ln/>
        </p:spPr>
        <p:txBody>
          <a:bodyPr wrap="square" lIns="0" tIns="0" rIns="0" bIns="0" rtlCol="0" anchor="ctr"/>
          <a:lstStyle/>
          <a:p>
            <a:pPr marL="0" indent="0">
              <a:buNone/>
            </a:pPr>
            <a:r>
              <a:rPr lang="en-US" sz="1600" b="1" dirty="0">
                <a:solidFill>
                  <a:schemeClr val="bg1"/>
                </a:solidFill>
                <a:latin typeface="Times New Roman" panose="02020603050405020304" pitchFamily="18" charset="0"/>
                <a:cs typeface="Times New Roman" panose="02020603050405020304" pitchFamily="18" charset="0"/>
              </a:rPr>
              <a:t>Monitor</a:t>
            </a:r>
            <a:endParaRPr lang="en-US" sz="1600" dirty="0">
              <a:latin typeface="Times New Roman" panose="02020603050405020304" pitchFamily="18" charset="0"/>
              <a:cs typeface="Times New Roman" panose="02020603050405020304" pitchFamily="18" charset="0"/>
            </a:endParaRPr>
          </a:p>
          <a:p>
            <a:pPr marL="0" indent="0">
              <a:buNone/>
            </a:pPr>
            <a:r>
              <a:rPr lang="en-US" sz="1200" dirty="0">
                <a:solidFill>
                  <a:schemeClr val="bg2"/>
                </a:solidFill>
                <a:latin typeface="Times New Roman" panose="02020603050405020304" pitchFamily="18" charset="0"/>
                <a:cs typeface="Times New Roman" panose="02020603050405020304" pitchFamily="18" charset="0"/>
              </a:rPr>
              <a:t>Voltage, current and temperature</a:t>
            </a:r>
            <a:endParaRPr lang="en-US" sz="1600" dirty="0">
              <a:latin typeface="Times New Roman" panose="02020603050405020304" pitchFamily="18" charset="0"/>
              <a:cs typeface="Times New Roman" panose="02020603050405020304" pitchFamily="18" charset="0"/>
            </a:endParaRPr>
          </a:p>
        </p:txBody>
      </p:sp>
      <p:sp>
        <p:nvSpPr>
          <p:cNvPr id="9" name="Step arrow 1"/>
          <p:cNvSpPr/>
          <p:nvPr/>
        </p:nvSpPr>
        <p:spPr>
          <a:xfrm>
            <a:off x="6172200" y="2286000"/>
            <a:ext cx="0" cy="320040"/>
          </a:xfrm>
          <a:prstGeom prst="line">
            <a:avLst/>
          </a:prstGeom>
          <a:noFill/>
          <a:ln w="25400">
            <a:solidFill>
              <a:schemeClr val="accent5"/>
            </a:solidFill>
            <a:prstDash val="solid"/>
            <a:tailEnd type="triangle"/>
          </a:ln>
        </p:spPr>
      </p:sp>
      <p:sp>
        <p:nvSpPr>
          <p:cNvPr id="10" name="Manage icon"/>
          <p:cNvSpPr/>
          <p:nvPr/>
        </p:nvSpPr>
        <p:spPr>
          <a:xfrm>
            <a:off x="5897880" y="2651760"/>
            <a:ext cx="548640" cy="548640"/>
          </a:xfrm>
          <a:prstGeom prst="ellipse">
            <a:avLst/>
          </a:prstGeom>
          <a:solidFill>
            <a:schemeClr val="accent1"/>
          </a:solidFill>
          <a:ln/>
        </p:spPr>
      </p:sp>
      <p:pic>
        <p:nvPicPr>
          <p:cNvPr id="11" name="Image 1" descr="Manage icon icon"/>
          <p:cNvPicPr>
            <a:picLocks noChangeAspect="1"/>
          </p:cNvPicPr>
          <p:nvPr/>
        </p:nvPicPr>
        <p:blipFill>
          <a:blip r:embed="rId4"/>
          <a:stretch>
            <a:fillRect/>
          </a:stretch>
        </p:blipFill>
        <p:spPr>
          <a:xfrm>
            <a:off x="6035040" y="2788920"/>
            <a:ext cx="274320" cy="274320"/>
          </a:xfrm>
          <a:prstGeom prst="rect">
            <a:avLst/>
          </a:prstGeom>
        </p:spPr>
      </p:pic>
      <p:sp>
        <p:nvSpPr>
          <p:cNvPr id="12" name="Manage text"/>
          <p:cNvSpPr txBox="1"/>
          <p:nvPr/>
        </p:nvSpPr>
        <p:spPr>
          <a:xfrm>
            <a:off x="6583680" y="2606040"/>
            <a:ext cx="1965960" cy="640080"/>
          </a:xfrm>
          <a:prstGeom prst="rect">
            <a:avLst/>
          </a:prstGeom>
          <a:noFill/>
          <a:ln/>
        </p:spPr>
        <p:txBody>
          <a:bodyPr wrap="square" lIns="0" tIns="0" rIns="0" bIns="0" rtlCol="0" anchor="ctr"/>
          <a:lstStyle/>
          <a:p>
            <a:pPr marL="0" indent="0">
              <a:buNone/>
            </a:pPr>
            <a:r>
              <a:rPr lang="en-US" sz="1600" b="1" dirty="0">
                <a:solidFill>
                  <a:schemeClr val="bg1"/>
                </a:solidFill>
                <a:latin typeface="Times New Roman" panose="02020603050405020304" pitchFamily="18" charset="0"/>
                <a:cs typeface="Times New Roman" panose="02020603050405020304" pitchFamily="18" charset="0"/>
              </a:rPr>
              <a:t>Manage</a:t>
            </a:r>
            <a:endParaRPr lang="en-US" sz="1600" dirty="0">
              <a:latin typeface="Times New Roman" panose="02020603050405020304" pitchFamily="18" charset="0"/>
              <a:cs typeface="Times New Roman" panose="02020603050405020304" pitchFamily="18" charset="0"/>
            </a:endParaRPr>
          </a:p>
          <a:p>
            <a:pPr marL="0" indent="0">
              <a:buNone/>
            </a:pPr>
            <a:r>
              <a:rPr lang="en-US" sz="1200" dirty="0">
                <a:solidFill>
                  <a:schemeClr val="bg2"/>
                </a:solidFill>
                <a:latin typeface="Times New Roman" panose="02020603050405020304" pitchFamily="18" charset="0"/>
                <a:cs typeface="Times New Roman" panose="02020603050405020304" pitchFamily="18" charset="0"/>
              </a:rPr>
              <a:t>Share available power dynamically</a:t>
            </a:r>
            <a:endParaRPr lang="en-US" sz="1600" dirty="0">
              <a:latin typeface="Times New Roman" panose="02020603050405020304" pitchFamily="18" charset="0"/>
              <a:cs typeface="Times New Roman" panose="02020603050405020304" pitchFamily="18" charset="0"/>
            </a:endParaRPr>
          </a:p>
        </p:txBody>
      </p:sp>
      <p:sp>
        <p:nvSpPr>
          <p:cNvPr id="13" name="Step arrow 2"/>
          <p:cNvSpPr/>
          <p:nvPr/>
        </p:nvSpPr>
        <p:spPr>
          <a:xfrm>
            <a:off x="6172200" y="3246120"/>
            <a:ext cx="0" cy="320040"/>
          </a:xfrm>
          <a:prstGeom prst="line">
            <a:avLst/>
          </a:prstGeom>
          <a:noFill/>
          <a:ln w="25400">
            <a:solidFill>
              <a:schemeClr val="accent5"/>
            </a:solidFill>
            <a:prstDash val="solid"/>
            <a:tailEnd type="triangle"/>
          </a:ln>
        </p:spPr>
      </p:sp>
      <p:sp>
        <p:nvSpPr>
          <p:cNvPr id="14" name="Protect icon"/>
          <p:cNvSpPr/>
          <p:nvPr/>
        </p:nvSpPr>
        <p:spPr>
          <a:xfrm>
            <a:off x="5897880" y="3611880"/>
            <a:ext cx="548640" cy="548640"/>
          </a:xfrm>
          <a:prstGeom prst="ellipse">
            <a:avLst/>
          </a:prstGeom>
          <a:solidFill>
            <a:schemeClr val="accent3"/>
          </a:solidFill>
          <a:ln/>
        </p:spPr>
      </p:sp>
      <p:pic>
        <p:nvPicPr>
          <p:cNvPr id="15" name="Image 2" descr="Protect icon icon"/>
          <p:cNvPicPr>
            <a:picLocks noChangeAspect="1"/>
          </p:cNvPicPr>
          <p:nvPr/>
        </p:nvPicPr>
        <p:blipFill>
          <a:blip r:embed="rId5"/>
          <a:stretch>
            <a:fillRect/>
          </a:stretch>
        </p:blipFill>
        <p:spPr>
          <a:xfrm>
            <a:off x="6035040" y="3749040"/>
            <a:ext cx="274320" cy="274320"/>
          </a:xfrm>
          <a:prstGeom prst="rect">
            <a:avLst/>
          </a:prstGeom>
        </p:spPr>
      </p:pic>
      <p:sp>
        <p:nvSpPr>
          <p:cNvPr id="16" name="Protect text"/>
          <p:cNvSpPr txBox="1"/>
          <p:nvPr/>
        </p:nvSpPr>
        <p:spPr>
          <a:xfrm>
            <a:off x="6583680" y="3566160"/>
            <a:ext cx="1965960" cy="640080"/>
          </a:xfrm>
          <a:prstGeom prst="rect">
            <a:avLst/>
          </a:prstGeom>
          <a:noFill/>
          <a:ln/>
        </p:spPr>
        <p:txBody>
          <a:bodyPr wrap="square" lIns="0" tIns="0" rIns="0" bIns="0" rtlCol="0" anchor="ctr"/>
          <a:lstStyle/>
          <a:p>
            <a:pPr marL="0" indent="0">
              <a:buNone/>
            </a:pPr>
            <a:r>
              <a:rPr lang="en-US" sz="1600" b="1" dirty="0">
                <a:solidFill>
                  <a:schemeClr val="bg1"/>
                </a:solidFill>
                <a:latin typeface="Times New Roman" panose="02020603050405020304" pitchFamily="18" charset="0"/>
                <a:cs typeface="Times New Roman" panose="02020603050405020304" pitchFamily="18" charset="0"/>
              </a:rPr>
              <a:t>Protect</a:t>
            </a:r>
            <a:endParaRPr lang="en-US" sz="1600" dirty="0">
              <a:latin typeface="Times New Roman" panose="02020603050405020304" pitchFamily="18" charset="0"/>
              <a:cs typeface="Times New Roman" panose="02020603050405020304" pitchFamily="18" charset="0"/>
            </a:endParaRPr>
          </a:p>
          <a:p>
            <a:pPr marL="0" indent="0">
              <a:buNone/>
            </a:pPr>
            <a:r>
              <a:rPr lang="en-US" sz="1200" dirty="0">
                <a:solidFill>
                  <a:schemeClr val="bg2"/>
                </a:solidFill>
                <a:latin typeface="Times New Roman" panose="02020603050405020304" pitchFamily="18" charset="0"/>
                <a:cs typeface="Times New Roman" panose="02020603050405020304" pitchFamily="18" charset="0"/>
              </a:rPr>
              <a:t>Reduce or cut off beyond limits</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16" name="Rectangle 1">
            <a:extLst>
              <a:ext uri="{FF2B5EF4-FFF2-40B4-BE49-F238E27FC236}">
                <a16:creationId xmlns:a16="http://schemas.microsoft.com/office/drawing/2014/main" id="{8B1203E1-8A83-5385-2F96-F4F56F704506}"/>
              </a:ext>
            </a:extLst>
          </p:cNvPr>
          <p:cNvSpPr>
            <a:spLocks noChangeArrowheads="1"/>
          </p:cNvSpPr>
          <p:nvPr/>
        </p:nvSpPr>
        <p:spPr bwMode="auto">
          <a:xfrm>
            <a:off x="638629" y="1286816"/>
            <a:ext cx="7866742" cy="300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smart EV charging system that controls the charging process efficiently.</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distribute the available electrical power among multiple EV charging points based on the load demand.</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detect excessive current and prevent power supply overloading during the charging process.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monitor current and temperature continuously to ensure safe and reliable EV charging.</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warning alerts and automatically stop charging when unsafe conditions are detected.</a:t>
            </a:r>
          </a:p>
        </p:txBody>
      </p:sp>
      <p:sp>
        <p:nvSpPr>
          <p:cNvPr id="18" name="TextBox 17">
            <a:extLst>
              <a:ext uri="{FF2B5EF4-FFF2-40B4-BE49-F238E27FC236}">
                <a16:creationId xmlns:a16="http://schemas.microsoft.com/office/drawing/2014/main" id="{6F45F282-579A-5A16-4AFA-854369FB5532}"/>
              </a:ext>
            </a:extLst>
          </p:cNvPr>
          <p:cNvSpPr txBox="1"/>
          <p:nvPr/>
        </p:nvSpPr>
        <p:spPr>
          <a:xfrm>
            <a:off x="638629" y="457591"/>
            <a:ext cx="2902857" cy="553998"/>
          </a:xfrm>
          <a:prstGeom prst="rect">
            <a:avLst/>
          </a:prstGeom>
          <a:noFill/>
        </p:spPr>
        <p:txBody>
          <a:bodyPr wrap="square">
            <a:spAutoFit/>
          </a:bodyPr>
          <a:lstStyle/>
          <a:p>
            <a:r>
              <a:rPr lang="en-US" sz="3000" b="1" dirty="0">
                <a:latin typeface="Times New Roman" panose="02020603050405020304" pitchFamily="18" charset="0"/>
                <a:cs typeface="Times New Roman" panose="02020603050405020304" pitchFamily="18" charset="0"/>
              </a:rPr>
              <a:t>Objectives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7" name="TextBox 36">
            <a:extLst>
              <a:ext uri="{FF2B5EF4-FFF2-40B4-BE49-F238E27FC236}">
                <a16:creationId xmlns:a16="http://schemas.microsoft.com/office/drawing/2014/main" id="{AFB4603A-59C2-7ED8-65BE-BAD65FCA017A}"/>
              </a:ext>
            </a:extLst>
          </p:cNvPr>
          <p:cNvSpPr txBox="1"/>
          <p:nvPr/>
        </p:nvSpPr>
        <p:spPr>
          <a:xfrm>
            <a:off x="399142" y="421306"/>
            <a:ext cx="3439886" cy="553998"/>
          </a:xfrm>
          <a:prstGeom prst="rect">
            <a:avLst/>
          </a:prstGeom>
          <a:noFill/>
        </p:spPr>
        <p:txBody>
          <a:bodyPr wrap="square">
            <a:spAutoFit/>
          </a:bodyPr>
          <a:lstStyle/>
          <a:p>
            <a:r>
              <a:rPr lang="en-US" sz="3000" b="1" dirty="0">
                <a:latin typeface="Times New Roman" panose="02020603050405020304" pitchFamily="18" charset="0"/>
                <a:cs typeface="Times New Roman" panose="02020603050405020304" pitchFamily="18" charset="0"/>
              </a:rPr>
              <a:t>Problem Statement</a:t>
            </a:r>
          </a:p>
        </p:txBody>
      </p:sp>
      <p:sp>
        <p:nvSpPr>
          <p:cNvPr id="41" name="Rectangle 3">
            <a:extLst>
              <a:ext uri="{FF2B5EF4-FFF2-40B4-BE49-F238E27FC236}">
                <a16:creationId xmlns:a16="http://schemas.microsoft.com/office/drawing/2014/main" id="{71083B18-8C4D-4222-C823-4667DC0112B4}"/>
              </a:ext>
            </a:extLst>
          </p:cNvPr>
          <p:cNvSpPr>
            <a:spLocks noChangeArrowheads="1"/>
          </p:cNvSpPr>
          <p:nvPr/>
        </p:nvSpPr>
        <p:spPr bwMode="auto">
          <a:xfrm>
            <a:off x="0" y="-661720"/>
            <a:ext cx="1151853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High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Demand:</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Charging multiple electric vehicles simultaneously increases electricity demand.</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Overloading:</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Excessive power consumption can overload the electrical supply and damage equipment.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Unequal Power Distribution: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Available power may not be distributed efficiently among multiple charging points.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Safety Risks: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Excessive current and high temperatures can create unsafe charging conditions.</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Smart Monitoring:</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reliable system is needed to monitor charging conditions, manage power, and prevent electrical hazards.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000" b="1" dirty="0">
                <a:solidFill>
                  <a:schemeClr val="tx1"/>
                </a:solidFill>
                <a:latin typeface="Times New Roman" panose="02020603050405020304" pitchFamily="18" charset="0"/>
                <a:cs typeface="Times New Roman" panose="02020603050405020304" pitchFamily="18" charset="0"/>
              </a:rPr>
              <a:t>System Architecture</a:t>
            </a:r>
            <a:endParaRPr lang="en-US" sz="3000" dirty="0">
              <a:latin typeface="Times New Roman" panose="02020603050405020304" pitchFamily="18" charset="0"/>
              <a:cs typeface="Times New Roman" panose="02020603050405020304" pitchFamily="18" charset="0"/>
            </a:endParaRPr>
          </a:p>
        </p:txBody>
      </p:sp>
      <p:sp>
        <p:nvSpPr>
          <p:cNvPr id="44" name="Slide Number Placeholder 0"/>
          <p:cNvSpPr>
            <a:spLocks noGrp="1"/>
          </p:cNvSpPr>
          <p:nvPr>
            <p:ph type="sldNum" sz="quarter" idx="4294967295"/>
          </p:nvPr>
        </p:nvSpPr>
        <p:spPr>
          <a:xfrm>
            <a:off x="8138160" y="4864608"/>
            <a:ext cx="548640" cy="18288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5</a:t>
            </a:fld>
            <a:endParaRPr lang="en-US">
              <a:latin typeface="Times New Roman" panose="02020603050405020304" pitchFamily="18" charset="0"/>
              <a:cs typeface="Times New Roman" panose="02020603050405020304" pitchFamily="18" charset="0"/>
            </a:endParaRPr>
          </a:p>
        </p:txBody>
      </p:sp>
      <p:sp>
        <p:nvSpPr>
          <p:cNvPr id="3" name="Header SOURCE"/>
          <p:cNvSpPr txBox="1"/>
          <p:nvPr/>
        </p:nvSpPr>
        <p:spPr>
          <a:xfrm>
            <a:off x="365760" y="914400"/>
            <a:ext cx="1143000" cy="201168"/>
          </a:xfrm>
          <a:prstGeom prst="rect">
            <a:avLst/>
          </a:prstGeom>
          <a:noFill/>
          <a:ln/>
        </p:spPr>
        <p:txBody>
          <a:bodyPr wrap="square" lIns="0" tIns="0" rIns="0" bIns="0" rtlCol="0" anchor="ctr"/>
          <a:lstStyle/>
          <a:p>
            <a:pPr marL="0" indent="0" algn="ctr">
              <a:buNone/>
            </a:pPr>
            <a:r>
              <a:rPr lang="en-US" sz="1000" b="1" dirty="0">
                <a:solidFill>
                  <a:schemeClr val="accent6"/>
                </a:solidFill>
                <a:latin typeface="Times New Roman" panose="02020603050405020304" pitchFamily="18" charset="0"/>
                <a:cs typeface="Times New Roman" panose="02020603050405020304" pitchFamily="18" charset="0"/>
              </a:rPr>
              <a:t>SOURCE</a:t>
            </a:r>
            <a:endParaRPr lang="en-US" sz="1000" dirty="0">
              <a:latin typeface="Times New Roman" panose="02020603050405020304" pitchFamily="18" charset="0"/>
              <a:cs typeface="Times New Roman" panose="02020603050405020304" pitchFamily="18" charset="0"/>
            </a:endParaRPr>
          </a:p>
        </p:txBody>
      </p:sp>
      <p:sp>
        <p:nvSpPr>
          <p:cNvPr id="4" name="Header SENSING"/>
          <p:cNvSpPr txBox="1"/>
          <p:nvPr/>
        </p:nvSpPr>
        <p:spPr>
          <a:xfrm>
            <a:off x="1819656" y="914400"/>
            <a:ext cx="1143000" cy="201168"/>
          </a:xfrm>
          <a:prstGeom prst="rect">
            <a:avLst/>
          </a:prstGeom>
          <a:noFill/>
          <a:ln/>
        </p:spPr>
        <p:txBody>
          <a:bodyPr wrap="square" lIns="0" tIns="0" rIns="0" bIns="0" rtlCol="0" anchor="ctr"/>
          <a:lstStyle/>
          <a:p>
            <a:pPr marL="0" indent="0" algn="ctr">
              <a:buNone/>
            </a:pPr>
            <a:r>
              <a:rPr lang="en-US" sz="1000" b="1" dirty="0">
                <a:solidFill>
                  <a:schemeClr val="accent6"/>
                </a:solidFill>
                <a:latin typeface="Times New Roman" panose="02020603050405020304" pitchFamily="18" charset="0"/>
                <a:cs typeface="Times New Roman" panose="02020603050405020304" pitchFamily="18" charset="0"/>
              </a:rPr>
              <a:t>SENSING</a:t>
            </a:r>
            <a:endParaRPr lang="en-US" sz="1000" dirty="0">
              <a:latin typeface="Times New Roman" panose="02020603050405020304" pitchFamily="18" charset="0"/>
              <a:cs typeface="Times New Roman" panose="02020603050405020304" pitchFamily="18" charset="0"/>
            </a:endParaRPr>
          </a:p>
        </p:txBody>
      </p:sp>
      <p:sp>
        <p:nvSpPr>
          <p:cNvPr id="5" name="Header PROCESSING"/>
          <p:cNvSpPr txBox="1"/>
          <p:nvPr/>
        </p:nvSpPr>
        <p:spPr>
          <a:xfrm>
            <a:off x="3273552" y="914400"/>
            <a:ext cx="2596896" cy="201168"/>
          </a:xfrm>
          <a:prstGeom prst="rect">
            <a:avLst/>
          </a:prstGeom>
          <a:noFill/>
          <a:ln/>
        </p:spPr>
        <p:txBody>
          <a:bodyPr wrap="square" lIns="0" tIns="0" rIns="0" bIns="0" rtlCol="0" anchor="ctr"/>
          <a:lstStyle/>
          <a:p>
            <a:pPr marL="0" indent="0" algn="ctr">
              <a:buNone/>
            </a:pPr>
            <a:r>
              <a:rPr lang="en-US" sz="1000" b="1" dirty="0">
                <a:solidFill>
                  <a:schemeClr val="accent6"/>
                </a:solidFill>
                <a:latin typeface="Times New Roman" panose="02020603050405020304" pitchFamily="18" charset="0"/>
                <a:cs typeface="Times New Roman" panose="02020603050405020304" pitchFamily="18" charset="0"/>
              </a:rPr>
              <a:t>PROCESSING</a:t>
            </a:r>
            <a:endParaRPr lang="en-US" sz="1000" dirty="0">
              <a:latin typeface="Times New Roman" panose="02020603050405020304" pitchFamily="18" charset="0"/>
              <a:cs typeface="Times New Roman" panose="02020603050405020304" pitchFamily="18" charset="0"/>
            </a:endParaRPr>
          </a:p>
        </p:txBody>
      </p:sp>
      <p:sp>
        <p:nvSpPr>
          <p:cNvPr id="6" name="Header CONTROL"/>
          <p:cNvSpPr txBox="1"/>
          <p:nvPr/>
        </p:nvSpPr>
        <p:spPr>
          <a:xfrm>
            <a:off x="6181344" y="914400"/>
            <a:ext cx="1143000" cy="201168"/>
          </a:xfrm>
          <a:prstGeom prst="rect">
            <a:avLst/>
          </a:prstGeom>
          <a:noFill/>
          <a:ln/>
        </p:spPr>
        <p:txBody>
          <a:bodyPr wrap="square" lIns="0" tIns="0" rIns="0" bIns="0" rtlCol="0" anchor="ctr"/>
          <a:lstStyle/>
          <a:p>
            <a:pPr marL="0" indent="0" algn="ctr">
              <a:buNone/>
            </a:pPr>
            <a:r>
              <a:rPr lang="en-US" sz="1000" b="1" dirty="0">
                <a:solidFill>
                  <a:schemeClr val="accent6"/>
                </a:solidFill>
                <a:latin typeface="Times New Roman" panose="02020603050405020304" pitchFamily="18" charset="0"/>
                <a:cs typeface="Times New Roman" panose="02020603050405020304" pitchFamily="18" charset="0"/>
              </a:rPr>
              <a:t>CONTROL</a:t>
            </a:r>
            <a:endParaRPr lang="en-US" sz="1000" dirty="0">
              <a:latin typeface="Times New Roman" panose="02020603050405020304" pitchFamily="18" charset="0"/>
              <a:cs typeface="Times New Roman" panose="02020603050405020304" pitchFamily="18" charset="0"/>
            </a:endParaRPr>
          </a:p>
        </p:txBody>
      </p:sp>
      <p:sp>
        <p:nvSpPr>
          <p:cNvPr id="7" name="Header LOAD"/>
          <p:cNvSpPr txBox="1"/>
          <p:nvPr/>
        </p:nvSpPr>
        <p:spPr>
          <a:xfrm>
            <a:off x="7635240" y="914400"/>
            <a:ext cx="1143000" cy="201168"/>
          </a:xfrm>
          <a:prstGeom prst="rect">
            <a:avLst/>
          </a:prstGeom>
          <a:noFill/>
          <a:ln/>
        </p:spPr>
        <p:txBody>
          <a:bodyPr wrap="square" lIns="0" tIns="0" rIns="0" bIns="0" rtlCol="0" anchor="ctr"/>
          <a:lstStyle/>
          <a:p>
            <a:pPr marL="0" indent="0" algn="ctr">
              <a:buNone/>
            </a:pPr>
            <a:r>
              <a:rPr lang="en-US" sz="1000" b="1" dirty="0">
                <a:solidFill>
                  <a:schemeClr val="accent6"/>
                </a:solidFill>
                <a:latin typeface="Times New Roman" panose="02020603050405020304" pitchFamily="18" charset="0"/>
                <a:cs typeface="Times New Roman" panose="02020603050405020304" pitchFamily="18" charset="0"/>
              </a:rPr>
              <a:t>LOAD</a:t>
            </a:r>
            <a:endParaRPr lang="en-US" sz="1000" dirty="0">
              <a:latin typeface="Times New Roman" panose="02020603050405020304" pitchFamily="18" charset="0"/>
              <a:cs typeface="Times New Roman" panose="02020603050405020304" pitchFamily="18" charset="0"/>
            </a:endParaRPr>
          </a:p>
        </p:txBody>
      </p:sp>
      <p:sp>
        <p:nvSpPr>
          <p:cNvPr id="8" name="Firmware container"/>
          <p:cNvSpPr/>
          <p:nvPr/>
        </p:nvSpPr>
        <p:spPr>
          <a:xfrm>
            <a:off x="4663440" y="1225296"/>
            <a:ext cx="1271016" cy="1609344"/>
          </a:xfrm>
          <a:prstGeom prst="roundRect">
            <a:avLst>
              <a:gd name="adj" fmla="val 5755"/>
            </a:avLst>
          </a:prstGeom>
          <a:solidFill>
            <a:schemeClr val="bg2"/>
          </a:solidFill>
          <a:ln w="15875">
            <a:solidFill>
              <a:schemeClr val="accent1"/>
            </a:solidFill>
            <a:prstDash val="dash"/>
          </a:ln>
        </p:spPr>
      </p:sp>
      <p:sp>
        <p:nvSpPr>
          <p:cNvPr id="9" name="Power source"/>
          <p:cNvSpPr/>
          <p:nvPr/>
        </p:nvSpPr>
        <p:spPr>
          <a:xfrm>
            <a:off x="365760" y="1618488"/>
            <a:ext cx="1143000" cy="822960"/>
          </a:xfrm>
          <a:prstGeom prst="roundRect">
            <a:avLst>
              <a:gd name="adj" fmla="val 8889"/>
            </a:avLst>
          </a:prstGeom>
          <a:solidFill>
            <a:schemeClr val="tx2"/>
          </a:solidFill>
          <a:ln/>
        </p:spPr>
        <p:txBody>
          <a:bodyPr wrap="square" lIns="38100" tIns="38100" rIns="38100" bIns="38100" rtlCol="0" anchor="ctr"/>
          <a:lstStyle/>
          <a:p>
            <a:pPr marL="0" indent="0" algn="ctr">
              <a:buNone/>
            </a:pPr>
            <a:r>
              <a:rPr lang="en-US" sz="1100" b="1" dirty="0">
                <a:solidFill>
                  <a:schemeClr val="bg1"/>
                </a:solidFill>
                <a:latin typeface="Times New Roman" panose="02020603050405020304" pitchFamily="18" charset="0"/>
                <a:cs typeface="Times New Roman" panose="02020603050405020304" pitchFamily="18" charset="0"/>
              </a:rPr>
              <a:t>Power Supply / Charging Source</a:t>
            </a:r>
            <a:endParaRPr lang="en-US" sz="1100" dirty="0">
              <a:latin typeface="Times New Roman" panose="02020603050405020304" pitchFamily="18" charset="0"/>
              <a:cs typeface="Times New Roman" panose="02020603050405020304" pitchFamily="18" charset="0"/>
            </a:endParaRPr>
          </a:p>
        </p:txBody>
      </p:sp>
      <p:sp>
        <p:nvSpPr>
          <p:cNvPr id="10" name="Voltage sensor"/>
          <p:cNvSpPr/>
          <p:nvPr/>
        </p:nvSpPr>
        <p:spPr>
          <a:xfrm>
            <a:off x="1819656" y="1234440"/>
            <a:ext cx="1143000" cy="457200"/>
          </a:xfrm>
          <a:prstGeom prst="roundRect">
            <a:avLst>
              <a:gd name="adj" fmla="val 16000"/>
            </a:avLst>
          </a:prstGeom>
          <a:solidFill>
            <a:schemeClr val="accent2"/>
          </a:solidFill>
          <a:ln/>
        </p:spPr>
        <p:txBody>
          <a:bodyPr wrap="square" lIns="38100" tIns="38100" rIns="38100" bIns="38100" rtlCol="0" anchor="ctr"/>
          <a:lstStyle/>
          <a:p>
            <a:pPr marL="0" indent="0" algn="ctr">
              <a:buNone/>
            </a:pPr>
            <a:r>
              <a:rPr lang="en-US" sz="1100" b="1" dirty="0">
                <a:solidFill>
                  <a:schemeClr val="bg1"/>
                </a:solidFill>
                <a:latin typeface="Times New Roman" panose="02020603050405020304" pitchFamily="18" charset="0"/>
                <a:cs typeface="Times New Roman" panose="02020603050405020304" pitchFamily="18" charset="0"/>
              </a:rPr>
              <a:t>Voltage Sensor</a:t>
            </a:r>
            <a:endParaRPr lang="en-US" sz="1100" dirty="0">
              <a:latin typeface="Times New Roman" panose="02020603050405020304" pitchFamily="18" charset="0"/>
              <a:cs typeface="Times New Roman" panose="02020603050405020304" pitchFamily="18" charset="0"/>
            </a:endParaRPr>
          </a:p>
        </p:txBody>
      </p:sp>
      <p:sp>
        <p:nvSpPr>
          <p:cNvPr id="11" name="Current sensor"/>
          <p:cNvSpPr/>
          <p:nvPr/>
        </p:nvSpPr>
        <p:spPr>
          <a:xfrm>
            <a:off x="1819656" y="1801368"/>
            <a:ext cx="1143000" cy="457200"/>
          </a:xfrm>
          <a:prstGeom prst="roundRect">
            <a:avLst>
              <a:gd name="adj" fmla="val 16000"/>
            </a:avLst>
          </a:prstGeom>
          <a:solidFill>
            <a:schemeClr val="accent2"/>
          </a:solidFill>
          <a:ln/>
        </p:spPr>
        <p:txBody>
          <a:bodyPr wrap="square" lIns="38100" tIns="38100" rIns="38100" bIns="38100" rtlCol="0" anchor="ctr"/>
          <a:lstStyle/>
          <a:p>
            <a:pPr marL="0" indent="0" algn="ctr">
              <a:buNone/>
            </a:pPr>
            <a:r>
              <a:rPr lang="en-US" sz="1100" b="1" dirty="0">
                <a:solidFill>
                  <a:schemeClr val="bg1"/>
                </a:solidFill>
                <a:latin typeface="Times New Roman" panose="02020603050405020304" pitchFamily="18" charset="0"/>
                <a:cs typeface="Times New Roman" panose="02020603050405020304" pitchFamily="18" charset="0"/>
              </a:rPr>
              <a:t>Current Sensor</a:t>
            </a:r>
            <a:endParaRPr lang="en-US" sz="1100" dirty="0">
              <a:latin typeface="Times New Roman" panose="02020603050405020304" pitchFamily="18" charset="0"/>
              <a:cs typeface="Times New Roman" panose="02020603050405020304" pitchFamily="18" charset="0"/>
            </a:endParaRPr>
          </a:p>
        </p:txBody>
      </p:sp>
      <p:sp>
        <p:nvSpPr>
          <p:cNvPr id="12" name="Temperature sensor"/>
          <p:cNvSpPr/>
          <p:nvPr/>
        </p:nvSpPr>
        <p:spPr>
          <a:xfrm>
            <a:off x="1819656" y="2368296"/>
            <a:ext cx="1143000" cy="457200"/>
          </a:xfrm>
          <a:prstGeom prst="roundRect">
            <a:avLst>
              <a:gd name="adj" fmla="val 16000"/>
            </a:avLst>
          </a:prstGeom>
          <a:solidFill>
            <a:schemeClr val="accent2"/>
          </a:solidFill>
          <a:ln/>
        </p:spPr>
        <p:txBody>
          <a:bodyPr wrap="square" lIns="38100" tIns="38100" rIns="38100" bIns="38100" rtlCol="0" anchor="ctr"/>
          <a:lstStyle/>
          <a:p>
            <a:pPr marL="0" indent="0" algn="ctr">
              <a:buNone/>
            </a:pPr>
            <a:r>
              <a:rPr lang="en-US" sz="1100" b="1" dirty="0">
                <a:solidFill>
                  <a:schemeClr val="bg1"/>
                </a:solidFill>
                <a:latin typeface="Times New Roman" panose="02020603050405020304" pitchFamily="18" charset="0"/>
                <a:cs typeface="Times New Roman" panose="02020603050405020304" pitchFamily="18" charset="0"/>
              </a:rPr>
              <a:t>Temperature Sensor</a:t>
            </a:r>
            <a:endParaRPr lang="en-US" sz="1100" dirty="0">
              <a:latin typeface="Times New Roman" panose="02020603050405020304" pitchFamily="18" charset="0"/>
              <a:cs typeface="Times New Roman" panose="02020603050405020304" pitchFamily="18" charset="0"/>
            </a:endParaRPr>
          </a:p>
        </p:txBody>
      </p:sp>
      <p:sp>
        <p:nvSpPr>
          <p:cNvPr id="13" name="ESP32"/>
          <p:cNvSpPr/>
          <p:nvPr/>
        </p:nvSpPr>
        <p:spPr>
          <a:xfrm>
            <a:off x="3273552" y="1527048"/>
            <a:ext cx="1143000" cy="1005840"/>
          </a:xfrm>
          <a:prstGeom prst="roundRect">
            <a:avLst>
              <a:gd name="adj" fmla="val 7273"/>
            </a:avLst>
          </a:prstGeom>
          <a:solidFill>
            <a:schemeClr val="accent1"/>
          </a:solidFill>
          <a:ln/>
        </p:spPr>
        <p:txBody>
          <a:bodyPr wrap="square" lIns="38100" tIns="38100" rIns="38100" bIns="38100" rtlCol="0" anchor="ctr"/>
          <a:lstStyle/>
          <a:p>
            <a:pPr marL="0" indent="0" algn="ctr">
              <a:buNone/>
            </a:pPr>
            <a:r>
              <a:rPr lang="en-US" sz="1000" b="1" dirty="0">
                <a:solidFill>
                  <a:schemeClr val="bg1"/>
                </a:solidFill>
                <a:latin typeface="Times New Roman" panose="02020603050405020304" pitchFamily="18" charset="0"/>
                <a:cs typeface="Times New Roman" panose="02020603050405020304" pitchFamily="18" charset="0"/>
              </a:rPr>
              <a:t>ESP32 Microcontroller</a:t>
            </a:r>
            <a:endParaRPr lang="en-US" sz="1000" dirty="0">
              <a:latin typeface="Times New Roman" panose="02020603050405020304" pitchFamily="18" charset="0"/>
              <a:cs typeface="Times New Roman" panose="02020603050405020304" pitchFamily="18" charset="0"/>
            </a:endParaRPr>
          </a:p>
        </p:txBody>
      </p:sp>
      <p:sp>
        <p:nvSpPr>
          <p:cNvPr id="14" name="Load management"/>
          <p:cNvSpPr/>
          <p:nvPr/>
        </p:nvSpPr>
        <p:spPr>
          <a:xfrm>
            <a:off x="4727448" y="1289304"/>
            <a:ext cx="1143000" cy="685800"/>
          </a:xfrm>
          <a:prstGeom prst="roundRect">
            <a:avLst>
              <a:gd name="adj" fmla="val 10667"/>
            </a:avLst>
          </a:prstGeom>
          <a:solidFill>
            <a:schemeClr val="accent1"/>
          </a:solidFill>
          <a:ln/>
        </p:spPr>
        <p:txBody>
          <a:bodyPr wrap="square" lIns="38100" tIns="38100" rIns="38100" bIns="38100" rtlCol="0" anchor="ctr"/>
          <a:lstStyle/>
          <a:p>
            <a:pPr marL="0" indent="0" algn="ctr">
              <a:buNone/>
            </a:pPr>
            <a:r>
              <a:rPr lang="en-US" sz="1100" b="1" dirty="0">
                <a:solidFill>
                  <a:schemeClr val="bg1"/>
                </a:solidFill>
                <a:latin typeface="Times New Roman" panose="02020603050405020304" pitchFamily="18" charset="0"/>
                <a:cs typeface="Times New Roman" panose="02020603050405020304" pitchFamily="18" charset="0"/>
              </a:rPr>
              <a:t>Dynamic Load Management Algorithm</a:t>
            </a:r>
            <a:endParaRPr lang="en-US" sz="1100" dirty="0">
              <a:latin typeface="Times New Roman" panose="02020603050405020304" pitchFamily="18" charset="0"/>
              <a:cs typeface="Times New Roman" panose="02020603050405020304" pitchFamily="18" charset="0"/>
            </a:endParaRPr>
          </a:p>
        </p:txBody>
      </p:sp>
      <p:sp>
        <p:nvSpPr>
          <p:cNvPr id="15" name="Safety logic"/>
          <p:cNvSpPr/>
          <p:nvPr/>
        </p:nvSpPr>
        <p:spPr>
          <a:xfrm>
            <a:off x="4727448" y="2084832"/>
            <a:ext cx="1143000" cy="685800"/>
          </a:xfrm>
          <a:prstGeom prst="roundRect">
            <a:avLst>
              <a:gd name="adj" fmla="val 10667"/>
            </a:avLst>
          </a:prstGeom>
          <a:solidFill>
            <a:schemeClr val="accent1"/>
          </a:solidFill>
          <a:ln/>
        </p:spPr>
        <p:txBody>
          <a:bodyPr wrap="square" lIns="38100" tIns="38100" rIns="38100" bIns="38100" rtlCol="0" anchor="ctr"/>
          <a:lstStyle/>
          <a:p>
            <a:pPr marL="0" indent="0" algn="ctr">
              <a:buNone/>
            </a:pPr>
            <a:r>
              <a:rPr lang="en-US" sz="1100" b="1" dirty="0">
                <a:solidFill>
                  <a:schemeClr val="bg1"/>
                </a:solidFill>
                <a:latin typeface="Times New Roman" panose="02020603050405020304" pitchFamily="18" charset="0"/>
                <a:cs typeface="Times New Roman" panose="02020603050405020304" pitchFamily="18" charset="0"/>
              </a:rPr>
              <a:t>Safety Monitoring and Threshold Checking</a:t>
            </a:r>
            <a:endParaRPr lang="en-US" sz="1100" dirty="0">
              <a:latin typeface="Times New Roman" panose="02020603050405020304" pitchFamily="18" charset="0"/>
              <a:cs typeface="Times New Roman" panose="02020603050405020304" pitchFamily="18" charset="0"/>
            </a:endParaRPr>
          </a:p>
        </p:txBody>
      </p:sp>
      <p:sp>
        <p:nvSpPr>
          <p:cNvPr id="16" name="Relay"/>
          <p:cNvSpPr/>
          <p:nvPr/>
        </p:nvSpPr>
        <p:spPr>
          <a:xfrm>
            <a:off x="6181344" y="1618488"/>
            <a:ext cx="1143000" cy="822960"/>
          </a:xfrm>
          <a:prstGeom prst="roundRect">
            <a:avLst>
              <a:gd name="adj" fmla="val 8889"/>
            </a:avLst>
          </a:prstGeom>
          <a:solidFill>
            <a:schemeClr val="accent3"/>
          </a:solidFill>
          <a:ln/>
        </p:spPr>
        <p:txBody>
          <a:bodyPr wrap="square" lIns="38100" tIns="38100" rIns="38100" bIns="38100" rtlCol="0" anchor="ctr"/>
          <a:lstStyle/>
          <a:p>
            <a:pPr marL="0" indent="0" algn="ctr">
              <a:buNone/>
            </a:pPr>
            <a:r>
              <a:rPr lang="en-US" sz="1100" b="1" dirty="0">
                <a:solidFill>
                  <a:schemeClr val="tx1"/>
                </a:solidFill>
                <a:latin typeface="Times New Roman" panose="02020603050405020304" pitchFamily="18" charset="0"/>
                <a:cs typeface="Times New Roman" panose="02020603050405020304" pitchFamily="18" charset="0"/>
              </a:rPr>
              <a:t>Relay / Contactor Control</a:t>
            </a:r>
            <a:endParaRPr lang="en-US" sz="1100" dirty="0">
              <a:latin typeface="Times New Roman" panose="02020603050405020304" pitchFamily="18" charset="0"/>
              <a:cs typeface="Times New Roman" panose="02020603050405020304" pitchFamily="18" charset="0"/>
            </a:endParaRPr>
          </a:p>
        </p:txBody>
      </p:sp>
      <p:sp>
        <p:nvSpPr>
          <p:cNvPr id="17" name="Charging load"/>
          <p:cNvSpPr/>
          <p:nvPr/>
        </p:nvSpPr>
        <p:spPr>
          <a:xfrm>
            <a:off x="7635240" y="1618488"/>
            <a:ext cx="1143000" cy="822960"/>
          </a:xfrm>
          <a:prstGeom prst="roundRect">
            <a:avLst>
              <a:gd name="adj" fmla="val 8889"/>
            </a:avLst>
          </a:prstGeom>
          <a:solidFill>
            <a:schemeClr val="tx2"/>
          </a:solidFill>
          <a:ln/>
        </p:spPr>
        <p:txBody>
          <a:bodyPr wrap="square" lIns="38100" tIns="38100" rIns="38100" bIns="38100" rtlCol="0" anchor="ctr"/>
          <a:lstStyle/>
          <a:p>
            <a:pPr marL="0" indent="0" algn="ctr">
              <a:buNone/>
            </a:pPr>
            <a:r>
              <a:rPr lang="en-US" sz="1100" b="1" dirty="0">
                <a:solidFill>
                  <a:schemeClr val="bg1"/>
                </a:solidFill>
                <a:latin typeface="Times New Roman" panose="02020603050405020304" pitchFamily="18" charset="0"/>
                <a:cs typeface="Times New Roman" panose="02020603050405020304" pitchFamily="18" charset="0"/>
              </a:rPr>
              <a:t>EV Battery Simulator / Low-Voltage Load</a:t>
            </a:r>
            <a:endParaRPr lang="en-US" sz="1100" dirty="0">
              <a:latin typeface="Times New Roman" panose="02020603050405020304" pitchFamily="18" charset="0"/>
              <a:cs typeface="Times New Roman" panose="02020603050405020304" pitchFamily="18" charset="0"/>
            </a:endParaRPr>
          </a:p>
        </p:txBody>
      </p:sp>
      <p:sp>
        <p:nvSpPr>
          <p:cNvPr id="18" name="Arrow source-sensors"/>
          <p:cNvSpPr/>
          <p:nvPr/>
        </p:nvSpPr>
        <p:spPr>
          <a:xfrm>
            <a:off x="1508760" y="2029968"/>
            <a:ext cx="310896" cy="0"/>
          </a:xfrm>
          <a:prstGeom prst="line">
            <a:avLst/>
          </a:prstGeom>
          <a:noFill/>
          <a:ln w="25400">
            <a:solidFill>
              <a:schemeClr val="tx2"/>
            </a:solidFill>
            <a:prstDash val="solid"/>
            <a:tailEnd type="triangle"/>
          </a:ln>
        </p:spPr>
      </p:sp>
      <p:sp>
        <p:nvSpPr>
          <p:cNvPr id="19" name="Arrow sensors-ESP32"/>
          <p:cNvSpPr/>
          <p:nvPr/>
        </p:nvSpPr>
        <p:spPr>
          <a:xfrm>
            <a:off x="2962656" y="2029968"/>
            <a:ext cx="310896" cy="0"/>
          </a:xfrm>
          <a:prstGeom prst="line">
            <a:avLst/>
          </a:prstGeom>
          <a:noFill/>
          <a:ln w="25400">
            <a:solidFill>
              <a:schemeClr val="tx2"/>
            </a:solidFill>
            <a:prstDash val="solid"/>
            <a:tailEnd type="triangle"/>
          </a:ln>
        </p:spPr>
      </p:sp>
      <p:sp>
        <p:nvSpPr>
          <p:cNvPr id="20" name="Arrow ESP32-logic"/>
          <p:cNvSpPr/>
          <p:nvPr/>
        </p:nvSpPr>
        <p:spPr>
          <a:xfrm>
            <a:off x="4416552" y="2029968"/>
            <a:ext cx="246888" cy="0"/>
          </a:xfrm>
          <a:prstGeom prst="line">
            <a:avLst/>
          </a:prstGeom>
          <a:noFill/>
          <a:ln w="25400">
            <a:solidFill>
              <a:schemeClr val="tx2"/>
            </a:solidFill>
            <a:prstDash val="solid"/>
            <a:tailEnd type="triangle"/>
          </a:ln>
        </p:spPr>
      </p:sp>
      <p:sp>
        <p:nvSpPr>
          <p:cNvPr id="21" name="Arrow logic-relay"/>
          <p:cNvSpPr/>
          <p:nvPr/>
        </p:nvSpPr>
        <p:spPr>
          <a:xfrm>
            <a:off x="5934456" y="2029968"/>
            <a:ext cx="246888" cy="0"/>
          </a:xfrm>
          <a:prstGeom prst="line">
            <a:avLst/>
          </a:prstGeom>
          <a:noFill/>
          <a:ln w="25400">
            <a:solidFill>
              <a:schemeClr val="tx2"/>
            </a:solidFill>
            <a:prstDash val="solid"/>
            <a:tailEnd type="triangle"/>
          </a:ln>
        </p:spPr>
      </p:sp>
      <p:sp>
        <p:nvSpPr>
          <p:cNvPr id="22" name="Arrow relay-load"/>
          <p:cNvSpPr/>
          <p:nvPr/>
        </p:nvSpPr>
        <p:spPr>
          <a:xfrm>
            <a:off x="7324344" y="2029968"/>
            <a:ext cx="310896" cy="0"/>
          </a:xfrm>
          <a:prstGeom prst="line">
            <a:avLst/>
          </a:prstGeom>
          <a:noFill/>
          <a:ln w="25400">
            <a:solidFill>
              <a:schemeClr val="tx2"/>
            </a:solidFill>
            <a:prstDash val="solid"/>
            <a:tailEnd type="triangle"/>
          </a:ln>
        </p:spPr>
      </p:sp>
      <p:sp>
        <p:nvSpPr>
          <p:cNvPr id="23" name="LCD OLED display"/>
          <p:cNvSpPr/>
          <p:nvPr/>
        </p:nvSpPr>
        <p:spPr>
          <a:xfrm>
            <a:off x="1188720" y="3611880"/>
            <a:ext cx="1554480" cy="640080"/>
          </a:xfrm>
          <a:prstGeom prst="roundRect">
            <a:avLst>
              <a:gd name="adj" fmla="val 11429"/>
            </a:avLst>
          </a:prstGeom>
          <a:solidFill>
            <a:schemeClr val="accent4"/>
          </a:solidFill>
          <a:ln/>
        </p:spPr>
        <p:txBody>
          <a:bodyPr wrap="square" lIns="38100" tIns="38100" rIns="38100" bIns="38100" rtlCol="0" anchor="ctr"/>
          <a:lstStyle/>
          <a:p>
            <a:pPr marL="0" indent="0" algn="ctr">
              <a:buNone/>
            </a:pPr>
            <a:r>
              <a:rPr lang="en-US" sz="1100" b="1" dirty="0">
                <a:solidFill>
                  <a:schemeClr val="bg1"/>
                </a:solidFill>
                <a:latin typeface="Times New Roman" panose="02020603050405020304" pitchFamily="18" charset="0"/>
                <a:cs typeface="Times New Roman" panose="02020603050405020304" pitchFamily="18" charset="0"/>
              </a:rPr>
              <a:t>LCD / OLED Display</a:t>
            </a:r>
            <a:endParaRPr lang="en-US" sz="1100" dirty="0">
              <a:latin typeface="Times New Roman" panose="02020603050405020304" pitchFamily="18" charset="0"/>
              <a:cs typeface="Times New Roman" panose="02020603050405020304" pitchFamily="18" charset="0"/>
            </a:endParaRPr>
          </a:p>
        </p:txBody>
      </p:sp>
      <p:sp>
        <p:nvSpPr>
          <p:cNvPr id="24" name="IoT dashboard"/>
          <p:cNvSpPr/>
          <p:nvPr/>
        </p:nvSpPr>
        <p:spPr>
          <a:xfrm>
            <a:off x="3113532" y="3611880"/>
            <a:ext cx="1463040" cy="640080"/>
          </a:xfrm>
          <a:prstGeom prst="roundRect">
            <a:avLst>
              <a:gd name="adj" fmla="val 11429"/>
            </a:avLst>
          </a:prstGeom>
          <a:solidFill>
            <a:schemeClr val="accent4"/>
          </a:solidFill>
          <a:ln/>
        </p:spPr>
        <p:txBody>
          <a:bodyPr wrap="square" lIns="38100" tIns="38100" rIns="38100" bIns="38100" rtlCol="0" anchor="ctr"/>
          <a:lstStyle/>
          <a:p>
            <a:pPr marL="0" indent="0" algn="ctr">
              <a:buNone/>
            </a:pPr>
            <a:r>
              <a:rPr lang="en-US" sz="1100" b="1" dirty="0">
                <a:solidFill>
                  <a:schemeClr val="bg1"/>
                </a:solidFill>
                <a:latin typeface="Times New Roman" panose="02020603050405020304" pitchFamily="18" charset="0"/>
                <a:cs typeface="Times New Roman" panose="02020603050405020304" pitchFamily="18" charset="0"/>
              </a:rPr>
              <a:t>Wi-Fi / IoT Monitoring Dashboard</a:t>
            </a:r>
            <a:endParaRPr lang="en-US" sz="1100" dirty="0">
              <a:latin typeface="Times New Roman" panose="02020603050405020304" pitchFamily="18" charset="0"/>
              <a:cs typeface="Times New Roman" panose="02020603050405020304" pitchFamily="18" charset="0"/>
            </a:endParaRPr>
          </a:p>
        </p:txBody>
      </p:sp>
      <p:sp>
        <p:nvSpPr>
          <p:cNvPr id="25" name="Buzzer"/>
          <p:cNvSpPr/>
          <p:nvPr/>
        </p:nvSpPr>
        <p:spPr>
          <a:xfrm>
            <a:off x="4754880" y="3611880"/>
            <a:ext cx="1097280" cy="640080"/>
          </a:xfrm>
          <a:prstGeom prst="roundRect">
            <a:avLst>
              <a:gd name="adj" fmla="val 11429"/>
            </a:avLst>
          </a:prstGeom>
          <a:solidFill>
            <a:schemeClr val="accent4"/>
          </a:solidFill>
          <a:ln/>
        </p:spPr>
        <p:txBody>
          <a:bodyPr wrap="square" lIns="38100" tIns="38100" rIns="38100" bIns="38100" rtlCol="0" anchor="ctr"/>
          <a:lstStyle/>
          <a:p>
            <a:pPr marL="0" indent="0" algn="ctr">
              <a:buNone/>
            </a:pPr>
            <a:r>
              <a:rPr lang="en-US" sz="1100" b="1" dirty="0">
                <a:solidFill>
                  <a:schemeClr val="bg1"/>
                </a:solidFill>
                <a:latin typeface="Times New Roman" panose="02020603050405020304" pitchFamily="18" charset="0"/>
                <a:cs typeface="Times New Roman" panose="02020603050405020304" pitchFamily="18" charset="0"/>
              </a:rPr>
              <a:t>Buzzer / Alert System</a:t>
            </a:r>
            <a:endParaRPr lang="en-US" sz="1100" dirty="0">
              <a:latin typeface="Times New Roman" panose="02020603050405020304" pitchFamily="18" charset="0"/>
              <a:cs typeface="Times New Roman" panose="02020603050405020304" pitchFamily="18" charset="0"/>
            </a:endParaRPr>
          </a:p>
        </p:txBody>
      </p:sp>
      <p:sp>
        <p:nvSpPr>
          <p:cNvPr id="26" name="Arrow ESP32-dashboard"/>
          <p:cNvSpPr/>
          <p:nvPr/>
        </p:nvSpPr>
        <p:spPr>
          <a:xfrm>
            <a:off x="3845052" y="2532888"/>
            <a:ext cx="0" cy="1078992"/>
          </a:xfrm>
          <a:prstGeom prst="line">
            <a:avLst/>
          </a:prstGeom>
          <a:noFill/>
          <a:ln w="25400">
            <a:solidFill>
              <a:schemeClr val="tx2"/>
            </a:solidFill>
            <a:prstDash val="solid"/>
            <a:tailEnd type="triangle"/>
          </a:ln>
        </p:spPr>
      </p:sp>
      <p:sp>
        <p:nvSpPr>
          <p:cNvPr id="27" name="Bus to display"/>
          <p:cNvSpPr/>
          <p:nvPr/>
        </p:nvSpPr>
        <p:spPr>
          <a:xfrm>
            <a:off x="1965960" y="3154680"/>
            <a:ext cx="1879092" cy="0"/>
          </a:xfrm>
          <a:prstGeom prst="line">
            <a:avLst/>
          </a:prstGeom>
          <a:noFill/>
          <a:ln w="25400">
            <a:solidFill>
              <a:schemeClr val="tx2"/>
            </a:solidFill>
            <a:prstDash val="solid"/>
          </a:ln>
        </p:spPr>
      </p:sp>
      <p:sp>
        <p:nvSpPr>
          <p:cNvPr id="28" name="Arrow bus-display"/>
          <p:cNvSpPr/>
          <p:nvPr/>
        </p:nvSpPr>
        <p:spPr>
          <a:xfrm>
            <a:off x="1965960" y="3154680"/>
            <a:ext cx="0" cy="457200"/>
          </a:xfrm>
          <a:prstGeom prst="line">
            <a:avLst/>
          </a:prstGeom>
          <a:noFill/>
          <a:ln w="25400">
            <a:solidFill>
              <a:schemeClr val="tx2"/>
            </a:solidFill>
            <a:prstDash val="solid"/>
            <a:tailEnd type="triangle"/>
          </a:ln>
        </p:spPr>
      </p:sp>
      <p:sp>
        <p:nvSpPr>
          <p:cNvPr id="29" name="Arrow safety-buzzer"/>
          <p:cNvSpPr/>
          <p:nvPr/>
        </p:nvSpPr>
        <p:spPr>
          <a:xfrm>
            <a:off x="5298948" y="2834640"/>
            <a:ext cx="0" cy="777240"/>
          </a:xfrm>
          <a:prstGeom prst="line">
            <a:avLst/>
          </a:prstGeom>
          <a:noFill/>
          <a:ln w="25400">
            <a:solidFill>
              <a:schemeClr val="tx2"/>
            </a:solidFill>
            <a:prstDash val="solid"/>
            <a:tailEnd type="triangle"/>
          </a:ln>
        </p:spPr>
      </p:sp>
      <p:sp>
        <p:nvSpPr>
          <p:cNvPr id="30" name="Live data label"/>
          <p:cNvSpPr txBox="1"/>
          <p:nvPr/>
        </p:nvSpPr>
        <p:spPr>
          <a:xfrm>
            <a:off x="2103120" y="2926080"/>
            <a:ext cx="1097280" cy="201168"/>
          </a:xfrm>
          <a:prstGeom prst="rect">
            <a:avLst/>
          </a:prstGeom>
          <a:noFill/>
          <a:ln/>
        </p:spPr>
        <p:txBody>
          <a:bodyPr wrap="square" lIns="0" tIns="0" rIns="0" bIns="0" rtlCol="0" anchor="ctr"/>
          <a:lstStyle/>
          <a:p>
            <a:pPr marL="0" indent="0">
              <a:buNone/>
            </a:pPr>
            <a:r>
              <a:rPr lang="en-US" sz="1000" i="1" dirty="0">
                <a:solidFill>
                  <a:schemeClr val="accent6"/>
                </a:solidFill>
                <a:latin typeface="Times New Roman" panose="02020603050405020304" pitchFamily="18" charset="0"/>
                <a:cs typeface="Times New Roman" panose="02020603050405020304" pitchFamily="18" charset="0"/>
              </a:rPr>
              <a:t>Live data</a:t>
            </a:r>
            <a:endParaRPr lang="en-US" sz="1000" dirty="0">
              <a:latin typeface="Times New Roman" panose="02020603050405020304" pitchFamily="18" charset="0"/>
              <a:cs typeface="Times New Roman" panose="02020603050405020304" pitchFamily="18" charset="0"/>
            </a:endParaRPr>
          </a:p>
        </p:txBody>
      </p:sp>
      <p:sp>
        <p:nvSpPr>
          <p:cNvPr id="31" name="Alert label"/>
          <p:cNvSpPr txBox="1"/>
          <p:nvPr/>
        </p:nvSpPr>
        <p:spPr>
          <a:xfrm>
            <a:off x="5394960" y="3108960"/>
            <a:ext cx="1005840" cy="201168"/>
          </a:xfrm>
          <a:prstGeom prst="rect">
            <a:avLst/>
          </a:prstGeom>
          <a:noFill/>
          <a:ln/>
        </p:spPr>
        <p:txBody>
          <a:bodyPr wrap="square" lIns="0" tIns="0" rIns="0" bIns="0" rtlCol="0" anchor="ctr"/>
          <a:lstStyle/>
          <a:p>
            <a:pPr marL="0" indent="0">
              <a:buNone/>
            </a:pPr>
            <a:r>
              <a:rPr lang="en-US" sz="1000" i="1" dirty="0">
                <a:solidFill>
                  <a:schemeClr val="accent6"/>
                </a:solidFill>
                <a:latin typeface="Times New Roman" panose="02020603050405020304" pitchFamily="18" charset="0"/>
                <a:cs typeface="Times New Roman" panose="02020603050405020304" pitchFamily="18" charset="0"/>
              </a:rPr>
              <a:t>Safety alert</a:t>
            </a:r>
            <a:endParaRPr lang="en-US" sz="1000" dirty="0">
              <a:latin typeface="Times New Roman" panose="02020603050405020304" pitchFamily="18" charset="0"/>
              <a:cs typeface="Times New Roman" panose="02020603050405020304" pitchFamily="18" charset="0"/>
            </a:endParaRPr>
          </a:p>
        </p:txBody>
      </p:sp>
      <p:sp>
        <p:nvSpPr>
          <p:cNvPr id="32" name="Legend title"/>
          <p:cNvSpPr txBox="1"/>
          <p:nvPr/>
        </p:nvSpPr>
        <p:spPr>
          <a:xfrm>
            <a:off x="6583680" y="3017520"/>
            <a:ext cx="2103120" cy="201168"/>
          </a:xfrm>
          <a:prstGeom prst="rect">
            <a:avLst/>
          </a:prstGeom>
          <a:noFill/>
          <a:ln/>
        </p:spPr>
        <p:txBody>
          <a:bodyPr wrap="square" lIns="0" tIns="0" rIns="0" bIns="0" rtlCol="0" anchor="ctr"/>
          <a:lstStyle/>
          <a:p>
            <a:pPr marL="0" indent="0">
              <a:buNone/>
            </a:pPr>
            <a:r>
              <a:rPr lang="en-US" sz="1000" b="1" dirty="0">
                <a:solidFill>
                  <a:schemeClr val="accent6"/>
                </a:solidFill>
                <a:latin typeface="Times New Roman" panose="02020603050405020304" pitchFamily="18" charset="0"/>
                <a:cs typeface="Times New Roman" panose="02020603050405020304" pitchFamily="18" charset="0"/>
              </a:rPr>
              <a:t>Colour key</a:t>
            </a:r>
            <a:endParaRPr lang="en-US" sz="1000" dirty="0">
              <a:latin typeface="Times New Roman" panose="02020603050405020304" pitchFamily="18" charset="0"/>
              <a:cs typeface="Times New Roman" panose="02020603050405020304" pitchFamily="18" charset="0"/>
            </a:endParaRPr>
          </a:p>
        </p:txBody>
      </p:sp>
      <p:sp>
        <p:nvSpPr>
          <p:cNvPr id="33" name="Legend swatch Source / load"/>
          <p:cNvSpPr/>
          <p:nvPr/>
        </p:nvSpPr>
        <p:spPr>
          <a:xfrm>
            <a:off x="6583680" y="3273552"/>
            <a:ext cx="146304" cy="146304"/>
          </a:xfrm>
          <a:prstGeom prst="roundRect">
            <a:avLst>
              <a:gd name="adj" fmla="val 18750"/>
            </a:avLst>
          </a:prstGeom>
          <a:solidFill>
            <a:schemeClr val="tx2"/>
          </a:solidFill>
          <a:ln/>
        </p:spPr>
      </p:sp>
      <p:sp>
        <p:nvSpPr>
          <p:cNvPr id="34" name="Legend label Source / load"/>
          <p:cNvSpPr txBox="1"/>
          <p:nvPr/>
        </p:nvSpPr>
        <p:spPr>
          <a:xfrm>
            <a:off x="6812280" y="3246120"/>
            <a:ext cx="1828800" cy="201168"/>
          </a:xfrm>
          <a:prstGeom prst="rect">
            <a:avLst/>
          </a:prstGeom>
          <a:noFill/>
          <a:ln/>
        </p:spPr>
        <p:txBody>
          <a:bodyPr wrap="square" lIns="0" tIns="0" rIns="0" bIns="0" rtlCol="0" anchor="ctr"/>
          <a:lstStyle/>
          <a:p>
            <a:pPr marL="0" indent="0">
              <a:buNone/>
            </a:pPr>
            <a:r>
              <a:rPr lang="en-US" sz="1000" dirty="0">
                <a:solidFill>
                  <a:schemeClr val="tx1"/>
                </a:solidFill>
                <a:latin typeface="Times New Roman" panose="02020603050405020304" pitchFamily="18" charset="0"/>
                <a:cs typeface="Times New Roman" panose="02020603050405020304" pitchFamily="18" charset="0"/>
              </a:rPr>
              <a:t>Source / load</a:t>
            </a:r>
            <a:endParaRPr lang="en-US" sz="1000" dirty="0">
              <a:latin typeface="Times New Roman" panose="02020603050405020304" pitchFamily="18" charset="0"/>
              <a:cs typeface="Times New Roman" panose="02020603050405020304" pitchFamily="18" charset="0"/>
            </a:endParaRPr>
          </a:p>
        </p:txBody>
      </p:sp>
      <p:sp>
        <p:nvSpPr>
          <p:cNvPr id="35" name="Legend swatch Sensor inputs"/>
          <p:cNvSpPr/>
          <p:nvPr/>
        </p:nvSpPr>
        <p:spPr>
          <a:xfrm>
            <a:off x="6583680" y="3474720"/>
            <a:ext cx="146304" cy="146304"/>
          </a:xfrm>
          <a:prstGeom prst="roundRect">
            <a:avLst>
              <a:gd name="adj" fmla="val 18750"/>
            </a:avLst>
          </a:prstGeom>
          <a:solidFill>
            <a:schemeClr val="accent2"/>
          </a:solidFill>
          <a:ln/>
        </p:spPr>
      </p:sp>
      <p:sp>
        <p:nvSpPr>
          <p:cNvPr id="36" name="Legend label Sensor inputs"/>
          <p:cNvSpPr txBox="1"/>
          <p:nvPr/>
        </p:nvSpPr>
        <p:spPr>
          <a:xfrm>
            <a:off x="6812280" y="3447288"/>
            <a:ext cx="1828800" cy="201168"/>
          </a:xfrm>
          <a:prstGeom prst="rect">
            <a:avLst/>
          </a:prstGeom>
          <a:noFill/>
          <a:ln/>
        </p:spPr>
        <p:txBody>
          <a:bodyPr wrap="square" lIns="0" tIns="0" rIns="0" bIns="0" rtlCol="0" anchor="ctr"/>
          <a:lstStyle/>
          <a:p>
            <a:pPr marL="0" indent="0">
              <a:buNone/>
            </a:pPr>
            <a:r>
              <a:rPr lang="en-US" sz="1000" dirty="0">
                <a:solidFill>
                  <a:schemeClr val="tx1"/>
                </a:solidFill>
                <a:latin typeface="Times New Roman" panose="02020603050405020304" pitchFamily="18" charset="0"/>
                <a:cs typeface="Times New Roman" panose="02020603050405020304" pitchFamily="18" charset="0"/>
              </a:rPr>
              <a:t>Sensor inputs</a:t>
            </a:r>
            <a:endParaRPr lang="en-US" sz="1000" dirty="0">
              <a:latin typeface="Times New Roman" panose="02020603050405020304" pitchFamily="18" charset="0"/>
              <a:cs typeface="Times New Roman" panose="02020603050405020304" pitchFamily="18" charset="0"/>
            </a:endParaRPr>
          </a:p>
        </p:txBody>
      </p:sp>
      <p:sp>
        <p:nvSpPr>
          <p:cNvPr id="37" name="Legend swatch Processing"/>
          <p:cNvSpPr/>
          <p:nvPr/>
        </p:nvSpPr>
        <p:spPr>
          <a:xfrm>
            <a:off x="6583680" y="3675888"/>
            <a:ext cx="146304" cy="146304"/>
          </a:xfrm>
          <a:prstGeom prst="roundRect">
            <a:avLst>
              <a:gd name="adj" fmla="val 18750"/>
            </a:avLst>
          </a:prstGeom>
          <a:solidFill>
            <a:schemeClr val="accent1"/>
          </a:solidFill>
          <a:ln/>
        </p:spPr>
      </p:sp>
      <p:sp>
        <p:nvSpPr>
          <p:cNvPr id="38" name="Legend label Processing"/>
          <p:cNvSpPr txBox="1"/>
          <p:nvPr/>
        </p:nvSpPr>
        <p:spPr>
          <a:xfrm>
            <a:off x="6812280" y="3648456"/>
            <a:ext cx="1828800" cy="201168"/>
          </a:xfrm>
          <a:prstGeom prst="rect">
            <a:avLst/>
          </a:prstGeom>
          <a:noFill/>
          <a:ln/>
        </p:spPr>
        <p:txBody>
          <a:bodyPr wrap="square" lIns="0" tIns="0" rIns="0" bIns="0" rtlCol="0" anchor="ctr"/>
          <a:lstStyle/>
          <a:p>
            <a:pPr marL="0" indent="0">
              <a:buNone/>
            </a:pPr>
            <a:r>
              <a:rPr lang="en-US" sz="1000" dirty="0">
                <a:solidFill>
                  <a:schemeClr val="tx1"/>
                </a:solidFill>
                <a:latin typeface="Times New Roman" panose="02020603050405020304" pitchFamily="18" charset="0"/>
                <a:cs typeface="Times New Roman" panose="02020603050405020304" pitchFamily="18" charset="0"/>
              </a:rPr>
              <a:t>Processing</a:t>
            </a:r>
            <a:endParaRPr lang="en-US" sz="1000" dirty="0">
              <a:latin typeface="Times New Roman" panose="02020603050405020304" pitchFamily="18" charset="0"/>
              <a:cs typeface="Times New Roman" panose="02020603050405020304" pitchFamily="18" charset="0"/>
            </a:endParaRPr>
          </a:p>
        </p:txBody>
      </p:sp>
      <p:sp>
        <p:nvSpPr>
          <p:cNvPr id="39" name="Legend swatch Control"/>
          <p:cNvSpPr/>
          <p:nvPr/>
        </p:nvSpPr>
        <p:spPr>
          <a:xfrm>
            <a:off x="6583680" y="3877056"/>
            <a:ext cx="146304" cy="146304"/>
          </a:xfrm>
          <a:prstGeom prst="roundRect">
            <a:avLst>
              <a:gd name="adj" fmla="val 18750"/>
            </a:avLst>
          </a:prstGeom>
          <a:solidFill>
            <a:schemeClr val="accent3"/>
          </a:solidFill>
          <a:ln/>
        </p:spPr>
      </p:sp>
      <p:sp>
        <p:nvSpPr>
          <p:cNvPr id="40" name="Legend label Control"/>
          <p:cNvSpPr txBox="1"/>
          <p:nvPr/>
        </p:nvSpPr>
        <p:spPr>
          <a:xfrm>
            <a:off x="6812280" y="3849624"/>
            <a:ext cx="1828800" cy="201168"/>
          </a:xfrm>
          <a:prstGeom prst="rect">
            <a:avLst/>
          </a:prstGeom>
          <a:noFill/>
          <a:ln/>
        </p:spPr>
        <p:txBody>
          <a:bodyPr wrap="square" lIns="0" tIns="0" rIns="0" bIns="0" rtlCol="0" anchor="ctr"/>
          <a:lstStyle/>
          <a:p>
            <a:pPr marL="0" indent="0">
              <a:buNone/>
            </a:pPr>
            <a:r>
              <a:rPr lang="en-US" sz="1000" dirty="0">
                <a:solidFill>
                  <a:schemeClr val="tx1"/>
                </a:solidFill>
                <a:latin typeface="Times New Roman" panose="02020603050405020304" pitchFamily="18" charset="0"/>
                <a:cs typeface="Times New Roman" panose="02020603050405020304" pitchFamily="18" charset="0"/>
              </a:rPr>
              <a:t>Control</a:t>
            </a:r>
            <a:endParaRPr lang="en-US" sz="1000" dirty="0">
              <a:latin typeface="Times New Roman" panose="02020603050405020304" pitchFamily="18" charset="0"/>
              <a:cs typeface="Times New Roman" panose="02020603050405020304" pitchFamily="18" charset="0"/>
            </a:endParaRPr>
          </a:p>
        </p:txBody>
      </p:sp>
      <p:sp>
        <p:nvSpPr>
          <p:cNvPr id="41" name="Legend swatch Outputs"/>
          <p:cNvSpPr/>
          <p:nvPr/>
        </p:nvSpPr>
        <p:spPr>
          <a:xfrm>
            <a:off x="6583680" y="4078224"/>
            <a:ext cx="146304" cy="146304"/>
          </a:xfrm>
          <a:prstGeom prst="roundRect">
            <a:avLst>
              <a:gd name="adj" fmla="val 18750"/>
            </a:avLst>
          </a:prstGeom>
          <a:solidFill>
            <a:schemeClr val="accent4"/>
          </a:solidFill>
          <a:ln/>
        </p:spPr>
      </p:sp>
      <p:sp>
        <p:nvSpPr>
          <p:cNvPr id="42" name="Legend label Outputs"/>
          <p:cNvSpPr txBox="1"/>
          <p:nvPr/>
        </p:nvSpPr>
        <p:spPr>
          <a:xfrm>
            <a:off x="6812280" y="4050792"/>
            <a:ext cx="1828800" cy="201168"/>
          </a:xfrm>
          <a:prstGeom prst="rect">
            <a:avLst/>
          </a:prstGeom>
          <a:noFill/>
          <a:ln/>
        </p:spPr>
        <p:txBody>
          <a:bodyPr wrap="square" lIns="0" tIns="0" rIns="0" bIns="0" rtlCol="0" anchor="ctr"/>
          <a:lstStyle/>
          <a:p>
            <a:pPr marL="0" indent="0">
              <a:buNone/>
            </a:pPr>
            <a:r>
              <a:rPr lang="en-US" sz="1000" dirty="0">
                <a:solidFill>
                  <a:schemeClr val="tx1"/>
                </a:solidFill>
                <a:latin typeface="Times New Roman" panose="02020603050405020304" pitchFamily="18" charset="0"/>
                <a:cs typeface="Times New Roman" panose="02020603050405020304" pitchFamily="18" charset="0"/>
              </a:rPr>
              <a:t>Outputs</a:t>
            </a:r>
            <a:endParaRPr lang="en-US" sz="1000" dirty="0">
              <a:latin typeface="Times New Roman" panose="02020603050405020304" pitchFamily="18" charset="0"/>
              <a:cs typeface="Times New Roman" panose="02020603050405020304" pitchFamily="18" charset="0"/>
            </a:endParaRPr>
          </a:p>
        </p:txBody>
      </p:sp>
      <p:sp>
        <p:nvSpPr>
          <p:cNvPr id="43" name="Safety note"/>
          <p:cNvSpPr txBox="1"/>
          <p:nvPr/>
        </p:nvSpPr>
        <p:spPr>
          <a:xfrm>
            <a:off x="457200" y="4389120"/>
            <a:ext cx="8229600" cy="438912"/>
          </a:xfrm>
          <a:prstGeom prst="rect">
            <a:avLst/>
          </a:prstGeom>
          <a:noFill/>
          <a:ln/>
        </p:spPr>
        <p:txBody>
          <a:bodyPr wrap="square" lIns="0" tIns="0" rIns="0" bIns="0" rtlCol="0" anchor="ctr"/>
          <a:lstStyle/>
          <a:p>
            <a:pPr marL="0" indent="0">
              <a:buNone/>
            </a:pPr>
            <a:r>
              <a:rPr lang="en-US" sz="1000" i="1" dirty="0">
                <a:solidFill>
                  <a:schemeClr val="accent6"/>
                </a:solidFill>
                <a:latin typeface="Times New Roman" panose="02020603050405020304" pitchFamily="18" charset="0"/>
                <a:cs typeface="Times New Roman" panose="02020603050405020304" pitchFamily="18" charset="0"/>
              </a:rPr>
              <a:t>Prototype note: a low-voltage battery simulator or test load is used. An ESP32, breadboard or ordinary relay must never be connected directly to mains-powered EV charging equipment; real EV charging needs suitable protection and qualified supervision.</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ctr"/>
          <a:lstStyle/>
          <a:p>
            <a:pPr marL="0" indent="0" algn="l">
              <a:buNone/>
            </a:pPr>
            <a:r>
              <a:rPr lang="en-US" sz="3000" b="1" dirty="0">
                <a:solidFill>
                  <a:schemeClr val="tx1"/>
                </a:solidFill>
                <a:latin typeface="Times New Roman" panose="02020603050405020304" pitchFamily="18" charset="0"/>
                <a:cs typeface="Times New Roman" panose="02020603050405020304" pitchFamily="18" charset="0"/>
              </a:rPr>
              <a:t>Modules Involved</a:t>
            </a:r>
            <a:endParaRPr lang="en-US" sz="3000" dirty="0">
              <a:latin typeface="Times New Roman" panose="02020603050405020304" pitchFamily="18" charset="0"/>
              <a:cs typeface="Times New Roman" panose="02020603050405020304" pitchFamily="18" charset="0"/>
            </a:endParaRPr>
          </a:p>
        </p:txBody>
      </p:sp>
      <p:sp>
        <p:nvSpPr>
          <p:cNvPr id="29" name="Slide Number Placeholder 0"/>
          <p:cNvSpPr>
            <a:spLocks noGrp="1"/>
          </p:cNvSpPr>
          <p:nvPr>
            <p:ph type="sldNum" sz="quarter" idx="4294967295"/>
          </p:nvPr>
        </p:nvSpPr>
        <p:spPr>
          <a:xfrm>
            <a:off x="8138160" y="4864608"/>
            <a:ext cx="548640" cy="18288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6</a:t>
            </a:fld>
            <a:endParaRPr lang="en-US">
              <a:latin typeface="Times New Roman" panose="02020603050405020304" pitchFamily="18" charset="0"/>
              <a:cs typeface="Times New Roman" panose="02020603050405020304" pitchFamily="18" charset="0"/>
            </a:endParaRPr>
          </a:p>
        </p:txBody>
      </p:sp>
      <p:sp>
        <p:nvSpPr>
          <p:cNvPr id="3" name="Module card 1"/>
          <p:cNvSpPr/>
          <p:nvPr/>
        </p:nvSpPr>
        <p:spPr>
          <a:xfrm>
            <a:off x="457200" y="987552"/>
            <a:ext cx="3977640" cy="1207008"/>
          </a:xfrm>
          <a:prstGeom prst="roundRect">
            <a:avLst>
              <a:gd name="adj" fmla="val 6061"/>
            </a:avLst>
          </a:prstGeom>
          <a:solidFill>
            <a:schemeClr val="bg2"/>
          </a:solidFill>
          <a:ln/>
        </p:spPr>
      </p:sp>
      <p:sp>
        <p:nvSpPr>
          <p:cNvPr id="4" name="Module icon 1"/>
          <p:cNvSpPr/>
          <p:nvPr/>
        </p:nvSpPr>
        <p:spPr>
          <a:xfrm>
            <a:off x="594360" y="1124712"/>
            <a:ext cx="502920" cy="502920"/>
          </a:xfrm>
          <a:prstGeom prst="ellipse">
            <a:avLst/>
          </a:prstGeom>
          <a:solidFill>
            <a:schemeClr val="accent1"/>
          </a:solidFill>
          <a:ln/>
        </p:spPr>
      </p:sp>
      <p:pic>
        <p:nvPicPr>
          <p:cNvPr id="5" name="Image 0" descr="Module icon 1 icon"/>
          <p:cNvPicPr>
            <a:picLocks noChangeAspect="1"/>
          </p:cNvPicPr>
          <p:nvPr/>
        </p:nvPicPr>
        <p:blipFill>
          <a:blip r:embed="rId3"/>
          <a:stretch>
            <a:fillRect/>
          </a:stretch>
        </p:blipFill>
        <p:spPr>
          <a:xfrm>
            <a:off x="720090" y="1250442"/>
            <a:ext cx="251460" cy="251460"/>
          </a:xfrm>
          <a:prstGeom prst="rect">
            <a:avLst/>
          </a:prstGeom>
        </p:spPr>
      </p:pic>
      <p:sp>
        <p:nvSpPr>
          <p:cNvPr id="6" name="Module text 1"/>
          <p:cNvSpPr txBox="1"/>
          <p:nvPr/>
        </p:nvSpPr>
        <p:spPr>
          <a:xfrm>
            <a:off x="1234440" y="1060704"/>
            <a:ext cx="3063240" cy="1060704"/>
          </a:xfrm>
          <a:prstGeom prst="rect">
            <a:avLst/>
          </a:prstGeom>
          <a:noFill/>
          <a:ln/>
        </p:spPr>
        <p:txBody>
          <a:bodyPr wrap="square" lIns="0" tIns="0" rIns="0" bIns="0" rtlCol="0" anchor="ctr"/>
          <a:lstStyle/>
          <a:p>
            <a:pPr marL="0" indent="0">
              <a:spcAft>
                <a:spcPts val="300"/>
              </a:spcAft>
              <a:buNone/>
            </a:pPr>
            <a:r>
              <a:rPr lang="en-US" sz="1400" b="1" dirty="0">
                <a:solidFill>
                  <a:schemeClr val="tx1"/>
                </a:solidFill>
                <a:latin typeface="Times New Roman" panose="02020603050405020304" pitchFamily="18" charset="0"/>
                <a:cs typeface="Times New Roman" panose="02020603050405020304" pitchFamily="18" charset="0"/>
              </a:rPr>
              <a:t>Module 1 – EV Charging</a:t>
            </a:r>
            <a:endParaRPr lang="en-US" sz="1400" dirty="0">
              <a:latin typeface="Times New Roman" panose="02020603050405020304" pitchFamily="18" charset="0"/>
              <a:cs typeface="Times New Roman" panose="02020603050405020304" pitchFamily="18" charset="0"/>
            </a:endParaRPr>
          </a:p>
          <a:p>
            <a:pPr marL="0" indent="0">
              <a:buNone/>
            </a:pPr>
            <a:r>
              <a:rPr lang="en-US" sz="1200" dirty="0">
                <a:solidFill>
                  <a:schemeClr val="tx1"/>
                </a:solidFill>
                <a:latin typeface="Times New Roman" panose="02020603050405020304" pitchFamily="18" charset="0"/>
                <a:cs typeface="Times New Roman" panose="02020603050405020304" pitchFamily="18" charset="0"/>
              </a:rPr>
              <a:t>Controls and monitors the charging process, charging status, voltage and current.</a:t>
            </a:r>
            <a:endParaRPr lang="en-US" sz="1400" dirty="0">
              <a:latin typeface="Times New Roman" panose="02020603050405020304" pitchFamily="18" charset="0"/>
              <a:cs typeface="Times New Roman" panose="02020603050405020304" pitchFamily="18" charset="0"/>
            </a:endParaRPr>
          </a:p>
        </p:txBody>
      </p:sp>
      <p:sp>
        <p:nvSpPr>
          <p:cNvPr id="7" name="Module card 2"/>
          <p:cNvSpPr/>
          <p:nvPr/>
        </p:nvSpPr>
        <p:spPr>
          <a:xfrm>
            <a:off x="4709160" y="987552"/>
            <a:ext cx="3977640" cy="1207008"/>
          </a:xfrm>
          <a:prstGeom prst="roundRect">
            <a:avLst>
              <a:gd name="adj" fmla="val 6061"/>
            </a:avLst>
          </a:prstGeom>
          <a:solidFill>
            <a:schemeClr val="bg2"/>
          </a:solidFill>
          <a:ln/>
        </p:spPr>
      </p:sp>
      <p:sp>
        <p:nvSpPr>
          <p:cNvPr id="8" name="Module icon 2"/>
          <p:cNvSpPr/>
          <p:nvPr/>
        </p:nvSpPr>
        <p:spPr>
          <a:xfrm>
            <a:off x="4846320" y="1124712"/>
            <a:ext cx="502920" cy="502920"/>
          </a:xfrm>
          <a:prstGeom prst="ellipse">
            <a:avLst/>
          </a:prstGeom>
          <a:solidFill>
            <a:schemeClr val="accent2"/>
          </a:solidFill>
          <a:ln/>
        </p:spPr>
      </p:sp>
      <p:pic>
        <p:nvPicPr>
          <p:cNvPr id="9" name="Image 1" descr="Module icon 2 icon"/>
          <p:cNvPicPr>
            <a:picLocks noChangeAspect="1"/>
          </p:cNvPicPr>
          <p:nvPr/>
        </p:nvPicPr>
        <p:blipFill>
          <a:blip r:embed="rId4"/>
          <a:stretch>
            <a:fillRect/>
          </a:stretch>
        </p:blipFill>
        <p:spPr>
          <a:xfrm>
            <a:off x="4972050" y="1250442"/>
            <a:ext cx="251460" cy="251460"/>
          </a:xfrm>
          <a:prstGeom prst="rect">
            <a:avLst/>
          </a:prstGeom>
        </p:spPr>
      </p:pic>
      <p:sp>
        <p:nvSpPr>
          <p:cNvPr id="10" name="Module text 2"/>
          <p:cNvSpPr txBox="1"/>
          <p:nvPr/>
        </p:nvSpPr>
        <p:spPr>
          <a:xfrm>
            <a:off x="5486400" y="1060704"/>
            <a:ext cx="3063240" cy="1060704"/>
          </a:xfrm>
          <a:prstGeom prst="rect">
            <a:avLst/>
          </a:prstGeom>
          <a:noFill/>
          <a:ln/>
        </p:spPr>
        <p:txBody>
          <a:bodyPr wrap="square" lIns="0" tIns="0" rIns="0" bIns="0" rtlCol="0" anchor="ctr"/>
          <a:lstStyle/>
          <a:p>
            <a:pPr marL="0" indent="0">
              <a:spcAft>
                <a:spcPts val="300"/>
              </a:spcAft>
              <a:buNone/>
            </a:pPr>
            <a:r>
              <a:rPr lang="en-US" sz="1400" b="1" dirty="0">
                <a:solidFill>
                  <a:schemeClr val="tx1"/>
                </a:solidFill>
                <a:latin typeface="Times New Roman" panose="02020603050405020304" pitchFamily="18" charset="0"/>
                <a:cs typeface="Times New Roman" panose="02020603050405020304" pitchFamily="18" charset="0"/>
              </a:rPr>
              <a:t>Module 2 – Dynamic Load Management</a:t>
            </a:r>
            <a:endParaRPr lang="en-US" sz="1400" dirty="0">
              <a:latin typeface="Times New Roman" panose="02020603050405020304" pitchFamily="18" charset="0"/>
              <a:cs typeface="Times New Roman" panose="02020603050405020304" pitchFamily="18" charset="0"/>
            </a:endParaRPr>
          </a:p>
          <a:p>
            <a:pPr marL="0" indent="0">
              <a:buNone/>
            </a:pPr>
            <a:r>
              <a:rPr lang="en-US" sz="1200" dirty="0">
                <a:solidFill>
                  <a:schemeClr val="tx1"/>
                </a:solidFill>
                <a:latin typeface="Times New Roman" panose="02020603050405020304" pitchFamily="18" charset="0"/>
                <a:cs typeface="Times New Roman" panose="02020603050405020304" pitchFamily="18" charset="0"/>
              </a:rPr>
              <a:t>Compares power demand against the available load limit and adjusts charging power accordingly.</a:t>
            </a:r>
            <a:endParaRPr lang="en-US" sz="1400" dirty="0">
              <a:latin typeface="Times New Roman" panose="02020603050405020304" pitchFamily="18" charset="0"/>
              <a:cs typeface="Times New Roman" panose="02020603050405020304" pitchFamily="18" charset="0"/>
            </a:endParaRPr>
          </a:p>
        </p:txBody>
      </p:sp>
      <p:sp>
        <p:nvSpPr>
          <p:cNvPr id="11" name="Module card 3"/>
          <p:cNvSpPr/>
          <p:nvPr/>
        </p:nvSpPr>
        <p:spPr>
          <a:xfrm>
            <a:off x="457200" y="2286000"/>
            <a:ext cx="3977640" cy="1207008"/>
          </a:xfrm>
          <a:prstGeom prst="roundRect">
            <a:avLst>
              <a:gd name="adj" fmla="val 6061"/>
            </a:avLst>
          </a:prstGeom>
          <a:solidFill>
            <a:schemeClr val="bg2"/>
          </a:solidFill>
          <a:ln/>
        </p:spPr>
      </p:sp>
      <p:sp>
        <p:nvSpPr>
          <p:cNvPr id="12" name="Module icon 3"/>
          <p:cNvSpPr/>
          <p:nvPr/>
        </p:nvSpPr>
        <p:spPr>
          <a:xfrm>
            <a:off x="594360" y="2423160"/>
            <a:ext cx="502920" cy="502920"/>
          </a:xfrm>
          <a:prstGeom prst="ellipse">
            <a:avLst/>
          </a:prstGeom>
          <a:solidFill>
            <a:schemeClr val="accent3"/>
          </a:solidFill>
          <a:ln/>
        </p:spPr>
      </p:sp>
      <p:pic>
        <p:nvPicPr>
          <p:cNvPr id="13" name="Image 2" descr="Module icon 3 icon"/>
          <p:cNvPicPr>
            <a:picLocks noChangeAspect="1"/>
          </p:cNvPicPr>
          <p:nvPr/>
        </p:nvPicPr>
        <p:blipFill>
          <a:blip r:embed="rId5"/>
          <a:stretch>
            <a:fillRect/>
          </a:stretch>
        </p:blipFill>
        <p:spPr>
          <a:xfrm>
            <a:off x="720090" y="2548890"/>
            <a:ext cx="251460" cy="251460"/>
          </a:xfrm>
          <a:prstGeom prst="rect">
            <a:avLst/>
          </a:prstGeom>
        </p:spPr>
      </p:pic>
      <p:sp>
        <p:nvSpPr>
          <p:cNvPr id="14" name="Module text 3"/>
          <p:cNvSpPr txBox="1"/>
          <p:nvPr/>
        </p:nvSpPr>
        <p:spPr>
          <a:xfrm>
            <a:off x="1234440" y="2359152"/>
            <a:ext cx="3063240" cy="1060704"/>
          </a:xfrm>
          <a:prstGeom prst="rect">
            <a:avLst/>
          </a:prstGeom>
          <a:noFill/>
          <a:ln/>
        </p:spPr>
        <p:txBody>
          <a:bodyPr wrap="square" lIns="0" tIns="0" rIns="0" bIns="0" rtlCol="0" anchor="ctr"/>
          <a:lstStyle/>
          <a:p>
            <a:pPr marL="0" indent="0">
              <a:spcAft>
                <a:spcPts val="300"/>
              </a:spcAft>
              <a:buNone/>
            </a:pPr>
            <a:r>
              <a:rPr lang="en-US" sz="1400" b="1" dirty="0">
                <a:solidFill>
                  <a:schemeClr val="tx1"/>
                </a:solidFill>
                <a:latin typeface="Times New Roman" panose="02020603050405020304" pitchFamily="18" charset="0"/>
                <a:cs typeface="Times New Roman" panose="02020603050405020304" pitchFamily="18" charset="0"/>
              </a:rPr>
              <a:t>Module 3 – Safety Monitoring</a:t>
            </a:r>
            <a:endParaRPr lang="en-US" sz="1400" dirty="0">
              <a:latin typeface="Times New Roman" panose="02020603050405020304" pitchFamily="18" charset="0"/>
              <a:cs typeface="Times New Roman" panose="02020603050405020304" pitchFamily="18" charset="0"/>
            </a:endParaRPr>
          </a:p>
          <a:p>
            <a:pPr marL="0" indent="0">
              <a:buNone/>
            </a:pPr>
            <a:r>
              <a:rPr lang="en-US" sz="1200" dirty="0">
                <a:solidFill>
                  <a:schemeClr val="tx1"/>
                </a:solidFill>
                <a:latin typeface="Times New Roman" panose="02020603050405020304" pitchFamily="18" charset="0"/>
                <a:cs typeface="Times New Roman" panose="02020603050405020304" pitchFamily="18" charset="0"/>
              </a:rPr>
              <a:t>Detects overcurrent, abnormal voltage and overheating, then initiates protective actions.</a:t>
            </a:r>
            <a:endParaRPr lang="en-US" sz="1400" dirty="0">
              <a:latin typeface="Times New Roman" panose="02020603050405020304" pitchFamily="18" charset="0"/>
              <a:cs typeface="Times New Roman" panose="02020603050405020304" pitchFamily="18" charset="0"/>
            </a:endParaRPr>
          </a:p>
        </p:txBody>
      </p:sp>
      <p:sp>
        <p:nvSpPr>
          <p:cNvPr id="15" name="Module card 4"/>
          <p:cNvSpPr/>
          <p:nvPr/>
        </p:nvSpPr>
        <p:spPr>
          <a:xfrm>
            <a:off x="4709160" y="2286000"/>
            <a:ext cx="3977640" cy="1207008"/>
          </a:xfrm>
          <a:prstGeom prst="roundRect">
            <a:avLst>
              <a:gd name="adj" fmla="val 6061"/>
            </a:avLst>
          </a:prstGeom>
          <a:solidFill>
            <a:schemeClr val="bg2"/>
          </a:solidFill>
          <a:ln/>
        </p:spPr>
      </p:sp>
      <p:sp>
        <p:nvSpPr>
          <p:cNvPr id="16" name="Module icon 4"/>
          <p:cNvSpPr/>
          <p:nvPr/>
        </p:nvSpPr>
        <p:spPr>
          <a:xfrm>
            <a:off x="4846320" y="2423160"/>
            <a:ext cx="502920" cy="502920"/>
          </a:xfrm>
          <a:prstGeom prst="ellipse">
            <a:avLst/>
          </a:prstGeom>
          <a:solidFill>
            <a:schemeClr val="accent4"/>
          </a:solidFill>
          <a:ln/>
        </p:spPr>
      </p:sp>
      <p:pic>
        <p:nvPicPr>
          <p:cNvPr id="17" name="Image 3" descr="Module icon 4 icon"/>
          <p:cNvPicPr>
            <a:picLocks noChangeAspect="1"/>
          </p:cNvPicPr>
          <p:nvPr/>
        </p:nvPicPr>
        <p:blipFill>
          <a:blip r:embed="rId6"/>
          <a:stretch>
            <a:fillRect/>
          </a:stretch>
        </p:blipFill>
        <p:spPr>
          <a:xfrm>
            <a:off x="4972050" y="2548890"/>
            <a:ext cx="251460" cy="251460"/>
          </a:xfrm>
          <a:prstGeom prst="rect">
            <a:avLst/>
          </a:prstGeom>
        </p:spPr>
      </p:pic>
      <p:sp>
        <p:nvSpPr>
          <p:cNvPr id="18" name="Module text 4"/>
          <p:cNvSpPr txBox="1"/>
          <p:nvPr/>
        </p:nvSpPr>
        <p:spPr>
          <a:xfrm>
            <a:off x="5486400" y="2359152"/>
            <a:ext cx="3063240" cy="1060704"/>
          </a:xfrm>
          <a:prstGeom prst="rect">
            <a:avLst/>
          </a:prstGeom>
          <a:noFill/>
          <a:ln/>
        </p:spPr>
        <p:txBody>
          <a:bodyPr wrap="square" lIns="0" tIns="0" rIns="0" bIns="0" rtlCol="0" anchor="ctr"/>
          <a:lstStyle/>
          <a:p>
            <a:pPr marL="0" indent="0">
              <a:spcAft>
                <a:spcPts val="300"/>
              </a:spcAft>
              <a:buNone/>
            </a:pPr>
            <a:r>
              <a:rPr lang="en-US" sz="1400" b="1" dirty="0">
                <a:solidFill>
                  <a:schemeClr val="tx1"/>
                </a:solidFill>
                <a:latin typeface="Times New Roman" panose="02020603050405020304" pitchFamily="18" charset="0"/>
                <a:cs typeface="Times New Roman" panose="02020603050405020304" pitchFamily="18" charset="0"/>
              </a:rPr>
              <a:t>Module 4 – User Monitoring and IoT</a:t>
            </a:r>
            <a:endParaRPr lang="en-US" sz="1400" dirty="0">
              <a:latin typeface="Times New Roman" panose="02020603050405020304" pitchFamily="18" charset="0"/>
              <a:cs typeface="Times New Roman" panose="02020603050405020304" pitchFamily="18" charset="0"/>
            </a:endParaRPr>
          </a:p>
          <a:p>
            <a:pPr marL="0" indent="0">
              <a:buNone/>
            </a:pPr>
            <a:r>
              <a:rPr lang="en-US" sz="1200" dirty="0">
                <a:solidFill>
                  <a:schemeClr val="tx1"/>
                </a:solidFill>
                <a:latin typeface="Times New Roman" panose="02020603050405020304" pitchFamily="18" charset="0"/>
                <a:cs typeface="Times New Roman" panose="02020603050405020304" pitchFamily="18" charset="0"/>
              </a:rPr>
              <a:t>Displays live readings, charging status and alerts locally or through a Wi-Fi dashboard.</a:t>
            </a:r>
            <a:endParaRPr lang="en-US" sz="1400" dirty="0">
              <a:latin typeface="Times New Roman" panose="02020603050405020304" pitchFamily="18" charset="0"/>
              <a:cs typeface="Times New Roman" panose="02020603050405020304" pitchFamily="18" charset="0"/>
            </a:endParaRPr>
          </a:p>
        </p:txBody>
      </p:sp>
      <p:sp>
        <p:nvSpPr>
          <p:cNvPr id="19" name="Hardware heading"/>
          <p:cNvSpPr txBox="1"/>
          <p:nvPr/>
        </p:nvSpPr>
        <p:spPr>
          <a:xfrm>
            <a:off x="457200" y="3639312"/>
            <a:ext cx="4572000" cy="228600"/>
          </a:xfrm>
          <a:prstGeom prst="rect">
            <a:avLst/>
          </a:prstGeom>
          <a:noFill/>
          <a:ln/>
        </p:spPr>
        <p:txBody>
          <a:bodyPr wrap="square" lIns="0" tIns="0" rIns="0" bIns="0" rtlCol="0" anchor="ctr"/>
          <a:lstStyle/>
          <a:p>
            <a:pPr marL="0" indent="0">
              <a:buNone/>
            </a:pPr>
            <a:r>
              <a:rPr lang="en-US" sz="1200" b="1" dirty="0">
                <a:solidFill>
                  <a:schemeClr val="accent1"/>
                </a:solidFill>
                <a:latin typeface="Times New Roman" panose="02020603050405020304" pitchFamily="18" charset="0"/>
                <a:cs typeface="Times New Roman" panose="02020603050405020304" pitchFamily="18" charset="0"/>
              </a:rPr>
              <a:t>Main hardware components</a:t>
            </a:r>
            <a:endParaRPr lang="en-US" sz="1200" dirty="0">
              <a:latin typeface="Times New Roman" panose="02020603050405020304" pitchFamily="18" charset="0"/>
              <a:cs typeface="Times New Roman" panose="02020603050405020304" pitchFamily="18" charset="0"/>
            </a:endParaRPr>
          </a:p>
        </p:txBody>
      </p:sp>
      <p:sp>
        <p:nvSpPr>
          <p:cNvPr id="20" name="Hardware ESP32"/>
          <p:cNvSpPr/>
          <p:nvPr/>
        </p:nvSpPr>
        <p:spPr>
          <a:xfrm>
            <a:off x="457200" y="3913632"/>
            <a:ext cx="1554480" cy="292608"/>
          </a:xfrm>
          <a:prstGeom prst="roundRect">
            <a:avLst>
              <a:gd name="adj" fmla="val 25000"/>
            </a:avLst>
          </a:prstGeom>
          <a:solidFill>
            <a:schemeClr val="tx1"/>
          </a:solidFill>
          <a:ln/>
        </p:spPr>
        <p:txBody>
          <a:bodyPr wrap="square" lIns="38100" tIns="38100" rIns="38100" bIns="38100" rtlCol="0" anchor="ctr"/>
          <a:lstStyle/>
          <a:p>
            <a:pPr marL="0" indent="0" algn="ctr">
              <a:buNone/>
            </a:pPr>
            <a:r>
              <a:rPr lang="en-US" sz="1100" dirty="0">
                <a:solidFill>
                  <a:schemeClr val="bg1"/>
                </a:solidFill>
                <a:latin typeface="Times New Roman" panose="02020603050405020304" pitchFamily="18" charset="0"/>
                <a:cs typeface="Times New Roman" panose="02020603050405020304" pitchFamily="18" charset="0"/>
              </a:rPr>
              <a:t>ESP32</a:t>
            </a:r>
            <a:endParaRPr lang="en-US" sz="1100" dirty="0">
              <a:latin typeface="Times New Roman" panose="02020603050405020304" pitchFamily="18" charset="0"/>
              <a:cs typeface="Times New Roman" panose="02020603050405020304" pitchFamily="18" charset="0"/>
            </a:endParaRPr>
          </a:p>
        </p:txBody>
      </p:sp>
      <p:sp>
        <p:nvSpPr>
          <p:cNvPr id="21" name="Hardware Voltage sensor"/>
          <p:cNvSpPr/>
          <p:nvPr/>
        </p:nvSpPr>
        <p:spPr>
          <a:xfrm>
            <a:off x="2121408" y="3913632"/>
            <a:ext cx="1554480" cy="292608"/>
          </a:xfrm>
          <a:prstGeom prst="roundRect">
            <a:avLst>
              <a:gd name="adj" fmla="val 25000"/>
            </a:avLst>
          </a:prstGeom>
          <a:solidFill>
            <a:schemeClr val="tx1"/>
          </a:solidFill>
          <a:ln/>
        </p:spPr>
        <p:txBody>
          <a:bodyPr wrap="square" lIns="38100" tIns="38100" rIns="38100" bIns="38100" rtlCol="0" anchor="ctr"/>
          <a:lstStyle/>
          <a:p>
            <a:pPr marL="0" indent="0" algn="ctr">
              <a:buNone/>
            </a:pPr>
            <a:r>
              <a:rPr lang="en-US" sz="1100" dirty="0">
                <a:solidFill>
                  <a:schemeClr val="bg1"/>
                </a:solidFill>
                <a:latin typeface="Times New Roman" panose="02020603050405020304" pitchFamily="18" charset="0"/>
                <a:cs typeface="Times New Roman" panose="02020603050405020304" pitchFamily="18" charset="0"/>
              </a:rPr>
              <a:t>Voltage sensor</a:t>
            </a:r>
            <a:endParaRPr lang="en-US" sz="1100" dirty="0">
              <a:latin typeface="Times New Roman" panose="02020603050405020304" pitchFamily="18" charset="0"/>
              <a:cs typeface="Times New Roman" panose="02020603050405020304" pitchFamily="18" charset="0"/>
            </a:endParaRPr>
          </a:p>
        </p:txBody>
      </p:sp>
      <p:sp>
        <p:nvSpPr>
          <p:cNvPr id="22" name="Hardware Current sensor"/>
          <p:cNvSpPr/>
          <p:nvPr/>
        </p:nvSpPr>
        <p:spPr>
          <a:xfrm>
            <a:off x="3785616" y="3913632"/>
            <a:ext cx="1554480" cy="292608"/>
          </a:xfrm>
          <a:prstGeom prst="roundRect">
            <a:avLst>
              <a:gd name="adj" fmla="val 25000"/>
            </a:avLst>
          </a:prstGeom>
          <a:solidFill>
            <a:schemeClr val="tx1"/>
          </a:solidFill>
          <a:ln/>
        </p:spPr>
        <p:txBody>
          <a:bodyPr wrap="square" lIns="38100" tIns="38100" rIns="38100" bIns="38100" rtlCol="0" anchor="ctr"/>
          <a:lstStyle/>
          <a:p>
            <a:pPr marL="0" indent="0" algn="ctr">
              <a:buNone/>
            </a:pPr>
            <a:r>
              <a:rPr lang="en-US" sz="1100" dirty="0">
                <a:solidFill>
                  <a:schemeClr val="bg1"/>
                </a:solidFill>
                <a:latin typeface="Times New Roman" panose="02020603050405020304" pitchFamily="18" charset="0"/>
                <a:cs typeface="Times New Roman" panose="02020603050405020304" pitchFamily="18" charset="0"/>
              </a:rPr>
              <a:t>Current sensor</a:t>
            </a:r>
            <a:endParaRPr lang="en-US" sz="1100" dirty="0">
              <a:latin typeface="Times New Roman" panose="02020603050405020304" pitchFamily="18" charset="0"/>
              <a:cs typeface="Times New Roman" panose="02020603050405020304" pitchFamily="18" charset="0"/>
            </a:endParaRPr>
          </a:p>
        </p:txBody>
      </p:sp>
      <p:sp>
        <p:nvSpPr>
          <p:cNvPr id="23" name="Hardware Temperature sensor"/>
          <p:cNvSpPr/>
          <p:nvPr/>
        </p:nvSpPr>
        <p:spPr>
          <a:xfrm>
            <a:off x="5449824" y="3913632"/>
            <a:ext cx="1554480" cy="292608"/>
          </a:xfrm>
          <a:prstGeom prst="roundRect">
            <a:avLst>
              <a:gd name="adj" fmla="val 25000"/>
            </a:avLst>
          </a:prstGeom>
          <a:solidFill>
            <a:schemeClr val="tx1"/>
          </a:solidFill>
          <a:ln/>
        </p:spPr>
        <p:txBody>
          <a:bodyPr wrap="square" lIns="38100" tIns="38100" rIns="38100" bIns="38100" rtlCol="0" anchor="ctr"/>
          <a:lstStyle/>
          <a:p>
            <a:pPr marL="0" indent="0" algn="ctr">
              <a:buNone/>
            </a:pPr>
            <a:r>
              <a:rPr lang="en-US" sz="1100" dirty="0">
                <a:solidFill>
                  <a:schemeClr val="bg1"/>
                </a:solidFill>
                <a:latin typeface="Times New Roman" panose="02020603050405020304" pitchFamily="18" charset="0"/>
                <a:cs typeface="Times New Roman" panose="02020603050405020304" pitchFamily="18" charset="0"/>
              </a:rPr>
              <a:t>Temperature sensor</a:t>
            </a:r>
            <a:endParaRPr lang="en-US" sz="1100" dirty="0">
              <a:latin typeface="Times New Roman" panose="02020603050405020304" pitchFamily="18" charset="0"/>
              <a:cs typeface="Times New Roman" panose="02020603050405020304" pitchFamily="18" charset="0"/>
            </a:endParaRPr>
          </a:p>
        </p:txBody>
      </p:sp>
      <p:sp>
        <p:nvSpPr>
          <p:cNvPr id="24" name="Hardware Relay / contactor"/>
          <p:cNvSpPr/>
          <p:nvPr/>
        </p:nvSpPr>
        <p:spPr>
          <a:xfrm>
            <a:off x="7114032" y="3913632"/>
            <a:ext cx="1554480" cy="292608"/>
          </a:xfrm>
          <a:prstGeom prst="roundRect">
            <a:avLst>
              <a:gd name="adj" fmla="val 25000"/>
            </a:avLst>
          </a:prstGeom>
          <a:solidFill>
            <a:schemeClr val="tx1"/>
          </a:solidFill>
          <a:ln/>
        </p:spPr>
        <p:txBody>
          <a:bodyPr wrap="square" lIns="38100" tIns="38100" rIns="38100" bIns="38100" rtlCol="0" anchor="ctr"/>
          <a:lstStyle/>
          <a:p>
            <a:pPr marL="0" indent="0" algn="ctr">
              <a:buNone/>
            </a:pPr>
            <a:r>
              <a:rPr lang="en-US" sz="1100" dirty="0">
                <a:solidFill>
                  <a:schemeClr val="bg1"/>
                </a:solidFill>
                <a:latin typeface="Times New Roman" panose="02020603050405020304" pitchFamily="18" charset="0"/>
                <a:cs typeface="Times New Roman" panose="02020603050405020304" pitchFamily="18" charset="0"/>
              </a:rPr>
              <a:t>Relay / contactor</a:t>
            </a:r>
            <a:endParaRPr lang="en-US" sz="1100" dirty="0">
              <a:latin typeface="Times New Roman" panose="02020603050405020304" pitchFamily="18" charset="0"/>
              <a:cs typeface="Times New Roman" panose="02020603050405020304" pitchFamily="18" charset="0"/>
            </a:endParaRPr>
          </a:p>
        </p:txBody>
      </p:sp>
      <p:sp>
        <p:nvSpPr>
          <p:cNvPr id="25" name="Hardware LCD / OLED"/>
          <p:cNvSpPr/>
          <p:nvPr/>
        </p:nvSpPr>
        <p:spPr>
          <a:xfrm>
            <a:off x="457200" y="4297680"/>
            <a:ext cx="1920240" cy="292608"/>
          </a:xfrm>
          <a:prstGeom prst="roundRect">
            <a:avLst>
              <a:gd name="adj" fmla="val 25000"/>
            </a:avLst>
          </a:prstGeom>
          <a:solidFill>
            <a:schemeClr val="tx1"/>
          </a:solidFill>
          <a:ln/>
        </p:spPr>
        <p:txBody>
          <a:bodyPr wrap="square" lIns="38100" tIns="38100" rIns="38100" bIns="38100" rtlCol="0" anchor="ctr"/>
          <a:lstStyle/>
          <a:p>
            <a:pPr marL="0" indent="0" algn="ctr">
              <a:buNone/>
            </a:pPr>
            <a:r>
              <a:rPr lang="en-US" sz="1100" dirty="0">
                <a:solidFill>
                  <a:schemeClr val="bg1"/>
                </a:solidFill>
                <a:latin typeface="Times New Roman" panose="02020603050405020304" pitchFamily="18" charset="0"/>
                <a:cs typeface="Times New Roman" panose="02020603050405020304" pitchFamily="18" charset="0"/>
              </a:rPr>
              <a:t>LCD / OLED</a:t>
            </a:r>
            <a:endParaRPr lang="en-US" sz="1100" dirty="0">
              <a:latin typeface="Times New Roman" panose="02020603050405020304" pitchFamily="18" charset="0"/>
              <a:cs typeface="Times New Roman" panose="02020603050405020304" pitchFamily="18" charset="0"/>
            </a:endParaRPr>
          </a:p>
        </p:txBody>
      </p:sp>
      <p:sp>
        <p:nvSpPr>
          <p:cNvPr id="26" name="Hardware Buzzer"/>
          <p:cNvSpPr/>
          <p:nvPr/>
        </p:nvSpPr>
        <p:spPr>
          <a:xfrm>
            <a:off x="2560320" y="4297680"/>
            <a:ext cx="1920240" cy="292608"/>
          </a:xfrm>
          <a:prstGeom prst="roundRect">
            <a:avLst>
              <a:gd name="adj" fmla="val 25000"/>
            </a:avLst>
          </a:prstGeom>
          <a:solidFill>
            <a:schemeClr val="tx1"/>
          </a:solidFill>
          <a:ln/>
        </p:spPr>
        <p:txBody>
          <a:bodyPr wrap="square" lIns="38100" tIns="38100" rIns="38100" bIns="38100" rtlCol="0" anchor="ctr"/>
          <a:lstStyle/>
          <a:p>
            <a:pPr marL="0" indent="0" algn="ctr">
              <a:buNone/>
            </a:pPr>
            <a:r>
              <a:rPr lang="en-US" sz="1100" dirty="0">
                <a:solidFill>
                  <a:schemeClr val="bg1"/>
                </a:solidFill>
                <a:latin typeface="Times New Roman" panose="02020603050405020304" pitchFamily="18" charset="0"/>
                <a:cs typeface="Times New Roman" panose="02020603050405020304" pitchFamily="18" charset="0"/>
              </a:rPr>
              <a:t>Buzzer</a:t>
            </a:r>
            <a:endParaRPr lang="en-US" sz="1100" dirty="0">
              <a:latin typeface="Times New Roman" panose="02020603050405020304" pitchFamily="18" charset="0"/>
              <a:cs typeface="Times New Roman" panose="02020603050405020304" pitchFamily="18" charset="0"/>
            </a:endParaRPr>
          </a:p>
        </p:txBody>
      </p:sp>
      <p:sp>
        <p:nvSpPr>
          <p:cNvPr id="27" name="Hardware Power supply"/>
          <p:cNvSpPr/>
          <p:nvPr/>
        </p:nvSpPr>
        <p:spPr>
          <a:xfrm>
            <a:off x="4663440" y="4297680"/>
            <a:ext cx="1920240" cy="292608"/>
          </a:xfrm>
          <a:prstGeom prst="roundRect">
            <a:avLst>
              <a:gd name="adj" fmla="val 25000"/>
            </a:avLst>
          </a:prstGeom>
          <a:solidFill>
            <a:schemeClr val="tx1"/>
          </a:solidFill>
          <a:ln/>
        </p:spPr>
        <p:txBody>
          <a:bodyPr wrap="square" lIns="38100" tIns="38100" rIns="38100" bIns="38100" rtlCol="0" anchor="ctr"/>
          <a:lstStyle/>
          <a:p>
            <a:pPr marL="0" indent="0" algn="ctr">
              <a:buNone/>
            </a:pPr>
            <a:r>
              <a:rPr lang="en-US" sz="1100" dirty="0">
                <a:solidFill>
                  <a:schemeClr val="bg1"/>
                </a:solidFill>
                <a:latin typeface="Times New Roman" panose="02020603050405020304" pitchFamily="18" charset="0"/>
                <a:cs typeface="Times New Roman" panose="02020603050405020304" pitchFamily="18" charset="0"/>
              </a:rPr>
              <a:t>Power supply</a:t>
            </a:r>
            <a:endParaRPr lang="en-US" sz="1100" dirty="0">
              <a:latin typeface="Times New Roman" panose="02020603050405020304" pitchFamily="18" charset="0"/>
              <a:cs typeface="Times New Roman" panose="02020603050405020304" pitchFamily="18" charset="0"/>
            </a:endParaRPr>
          </a:p>
        </p:txBody>
      </p:sp>
      <p:sp>
        <p:nvSpPr>
          <p:cNvPr id="28" name="Hardware Low-voltage charging load"/>
          <p:cNvSpPr/>
          <p:nvPr/>
        </p:nvSpPr>
        <p:spPr>
          <a:xfrm>
            <a:off x="6766560" y="4297680"/>
            <a:ext cx="1920240" cy="292608"/>
          </a:xfrm>
          <a:prstGeom prst="roundRect">
            <a:avLst>
              <a:gd name="adj" fmla="val 25000"/>
            </a:avLst>
          </a:prstGeom>
          <a:solidFill>
            <a:schemeClr val="tx1"/>
          </a:solidFill>
          <a:ln/>
        </p:spPr>
        <p:txBody>
          <a:bodyPr wrap="square" lIns="38100" tIns="38100" rIns="38100" bIns="38100" rtlCol="0" anchor="ctr"/>
          <a:lstStyle/>
          <a:p>
            <a:pPr marL="0" indent="0" algn="ctr">
              <a:buNone/>
            </a:pPr>
            <a:r>
              <a:rPr lang="en-US" sz="1100" dirty="0">
                <a:solidFill>
                  <a:schemeClr val="bg1"/>
                </a:solidFill>
                <a:latin typeface="Times New Roman" panose="02020603050405020304" pitchFamily="18" charset="0"/>
                <a:cs typeface="Times New Roman" panose="02020603050405020304" pitchFamily="18" charset="0"/>
              </a:rPr>
              <a:t>Low-voltage charging load</a:t>
            </a:r>
            <a:endParaRPr lang="en-US" sz="1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chemeClr val="bg1"/>
        </a:solidFill>
        <a:effectLst/>
      </p:bgPr>
    </p:bg>
    <p:spTree>
      <p:nvGrpSpPr>
        <p:cNvPr id="1" name=""/>
        <p:cNvGrpSpPr/>
        <p:nvPr/>
      </p:nvGrpSpPr>
      <p:grpSpPr>
        <a:xfrm>
          <a:off x="0" y="0"/>
          <a:ext cx="0" cy="0"/>
          <a:chOff x="0" y="0"/>
          <a:chExt cx="0" cy="0"/>
        </a:xfrm>
      </p:grpSpPr>
      <p:sp>
        <p:nvSpPr>
          <p:cNvPr id="29" name="TextBox 28">
            <a:extLst>
              <a:ext uri="{FF2B5EF4-FFF2-40B4-BE49-F238E27FC236}">
                <a16:creationId xmlns:a16="http://schemas.microsoft.com/office/drawing/2014/main" id="{72893AE2-98A7-75F5-2C57-0615203DAC77}"/>
              </a:ext>
            </a:extLst>
          </p:cNvPr>
          <p:cNvSpPr txBox="1"/>
          <p:nvPr/>
        </p:nvSpPr>
        <p:spPr>
          <a:xfrm>
            <a:off x="428171" y="538648"/>
            <a:ext cx="2336800" cy="553998"/>
          </a:xfrm>
          <a:prstGeom prst="rect">
            <a:avLst/>
          </a:prstGeom>
          <a:noFill/>
        </p:spPr>
        <p:txBody>
          <a:bodyPr wrap="square">
            <a:spAutoFit/>
          </a:bodyPr>
          <a:lstStyle/>
          <a:p>
            <a:pPr marL="0" indent="0">
              <a:buNone/>
            </a:pPr>
            <a:r>
              <a:rPr lang="en-US" sz="3000" b="1" dirty="0">
                <a:latin typeface="Times New Roman" panose="02020603050405020304" pitchFamily="18" charset="0"/>
                <a:cs typeface="Times New Roman" panose="02020603050405020304" pitchFamily="18" charset="0"/>
              </a:rPr>
              <a:t>Conclusion</a:t>
            </a:r>
            <a:endParaRPr lang="en-US" sz="3000" dirty="0">
              <a:latin typeface="Times New Roman" panose="02020603050405020304" pitchFamily="18" charset="0"/>
              <a:cs typeface="Times New Roman" panose="02020603050405020304" pitchFamily="18" charset="0"/>
            </a:endParaRPr>
          </a:p>
        </p:txBody>
      </p:sp>
      <p:sp>
        <p:nvSpPr>
          <p:cNvPr id="37" name="Rectangle 8">
            <a:extLst>
              <a:ext uri="{FF2B5EF4-FFF2-40B4-BE49-F238E27FC236}">
                <a16:creationId xmlns:a16="http://schemas.microsoft.com/office/drawing/2014/main" id="{B337BBFA-F2EE-AFFB-A179-3CFDC7995F4E}"/>
              </a:ext>
            </a:extLst>
          </p:cNvPr>
          <p:cNvSpPr>
            <a:spLocks noChangeArrowheads="1"/>
          </p:cNvSpPr>
          <p:nvPr/>
        </p:nvSpPr>
        <p:spPr bwMode="auto">
          <a:xfrm>
            <a:off x="718457" y="1419237"/>
            <a:ext cx="7903029" cy="2633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an efficient and reliable solution for charging multiple electric vehicles.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Distributes available power efficiently among charging points through dynamic load management.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Detects excessive current and helps prevent electrical overloading and equipment damage.</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Monitors current and temperature continuously to identify unsafe charging conditions.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system improves charging efficiency, manages power effectively, and ensures safer EV charging through digital control circuits.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EE2E34-6A6D-85FC-551E-0F74D20F27B4}"/>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1FA4430C-2F00-372A-75D2-AEA7D7CE8126}"/>
              </a:ext>
            </a:extLst>
          </p:cNvPr>
          <p:cNvSpPr>
            <a:spLocks noGrp="1"/>
          </p:cNvSpPr>
          <p:nvPr>
            <p:ph type="title" idx="100"/>
          </p:nvPr>
        </p:nvSpPr>
        <p:spPr>
          <a:xfrm>
            <a:off x="2626004" y="1335424"/>
            <a:ext cx="3891991" cy="2217466"/>
          </a:xfrm>
        </p:spPr>
        <p:txBody>
          <a:bodyPr>
            <a:normAutofit/>
          </a:bodyPr>
          <a:lstStyle/>
          <a:p>
            <a:r>
              <a:rPr lang="en-IN" sz="5400" dirty="0">
                <a:solidFill>
                  <a:schemeClr val="tx1"/>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388003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TotalTime>
  <Words>788</Words>
  <Application>Microsoft Office PowerPoint</Application>
  <PresentationFormat>On-screen Show (16:9)</PresentationFormat>
  <Paragraphs>104</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Smart EV Charging Station with Dynamic Load Management and Safety Monitoring</vt:lpstr>
      <vt:lpstr>Introduction</vt:lpstr>
      <vt:lpstr>PowerPoint Presentation</vt:lpstr>
      <vt:lpstr>PowerPoint Presentation</vt:lpstr>
      <vt:lpstr>System Architecture</vt:lpstr>
      <vt:lpstr>Modules Involved</vt:lpstr>
      <vt:lpstr>PowerPoint Presentation</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EV Charging Station - 0th Review</dc:title>
  <dc:subject>PptxGenJS Presentation</dc:subject>
  <dc:creator>[Team Members' Names]</dc:creator>
  <cp:lastModifiedBy>Karpaga shree</cp:lastModifiedBy>
  <cp:revision>3</cp:revision>
  <dcterms:created xsi:type="dcterms:W3CDTF">2026-10-20T14:51:09Z</dcterms:created>
  <dcterms:modified xsi:type="dcterms:W3CDTF">2026-10-26T04:44:59Z</dcterms:modified>
</cp:coreProperties>
</file>